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aleway Heavy" charset="1" panose="00000000000000000000"/>
      <p:regular r:id="rId12"/>
    </p:embeddedFont>
    <p:embeddedFont>
      <p:font typeface="Raleway Bold" charset="1" panose="00000000000000000000"/>
      <p:regular r:id="rId13"/>
    </p:embeddedFont>
    <p:embeddedFont>
      <p:font typeface="Raleway" charset="1" panose="00000000000000000000"/>
      <p:regular r:id="rId14"/>
    </p:embeddedFont>
    <p:embeddedFont>
      <p:font typeface="Montserrat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16270" y="3886609"/>
            <a:ext cx="912505" cy="912505"/>
          </a:xfrm>
          <a:custGeom>
            <a:avLst/>
            <a:gdLst/>
            <a:ahLst/>
            <a:cxnLst/>
            <a:rect r="r" b="b" t="t" l="l"/>
            <a:pathLst>
              <a:path h="912505" w="912505">
                <a:moveTo>
                  <a:pt x="0" y="0"/>
                </a:moveTo>
                <a:lnTo>
                  <a:pt x="912505" y="0"/>
                </a:lnTo>
                <a:lnTo>
                  <a:pt x="912505" y="912505"/>
                </a:lnTo>
                <a:lnTo>
                  <a:pt x="0" y="91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60923" y="911708"/>
            <a:ext cx="667852" cy="6678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51607" y="3064684"/>
            <a:ext cx="11730461" cy="242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1607" y="5456657"/>
            <a:ext cx="10465210" cy="224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8334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Cliente de correo electrónico.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2262" y="8660591"/>
            <a:ext cx="3631063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Catedra: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2262" y="9034401"/>
            <a:ext cx="3631063" cy="4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b="true" sz="295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Estructura de datos.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6728" y="1156371"/>
            <a:ext cx="5801874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María Lara Zobaji, Mauricio Ramirez.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525" y="1146803"/>
            <a:ext cx="3200322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b="true" sz="215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Grupo 29 - Comisión 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82414" y="6088611"/>
            <a:ext cx="5809652" cy="58096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309115" y="9072819"/>
            <a:ext cx="1716617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Siguiente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838431" y="2646909"/>
            <a:ext cx="9328334" cy="9328334"/>
            <a:chOff x="0" y="0"/>
            <a:chExt cx="14840029" cy="1484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-4476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24725" y="2729361"/>
            <a:ext cx="1409301" cy="616094"/>
            <a:chOff x="0" y="0"/>
            <a:chExt cx="481371" cy="2104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9025" y="2780259"/>
            <a:ext cx="6092608" cy="12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1"/>
              </a:lnSpc>
              <a:spcBef>
                <a:spcPct val="0"/>
              </a:spcBef>
            </a:pPr>
            <a:r>
              <a:rPr lang="en-US" b="true" sz="9184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Nuestro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2790" y="3725009"/>
            <a:ext cx="8064883" cy="12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6"/>
              </a:lnSpc>
              <a:spcBef>
                <a:spcPct val="0"/>
              </a:spcBef>
            </a:pPr>
            <a:r>
              <a:rPr lang="en-US" b="true" sz="9477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9644" y="5135460"/>
            <a:ext cx="8109186" cy="322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proyecto es una simulación de un sistema de cliente de correo electrónico, desarrollado en Python con enfoque en programación orientada a objetos (POO).</a:t>
            </a:r>
          </a:p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Su propósito principal es modelar el funcionamiento de un servicio de correo (como Gmail o Outlook, pero en versión simplificada), aplicando estructuras de datos y principios de encapsulamiento y modularidad.</a:t>
            </a:r>
          </a:p>
          <a:p>
            <a:pPr algn="l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677911" y="1229856"/>
            <a:ext cx="11845164" cy="5827185"/>
            <a:chOff x="0" y="0"/>
            <a:chExt cx="15793551" cy="776958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6989881" y="3139323"/>
              <a:ext cx="880367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Funcionamiento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89881" y="4209867"/>
              <a:ext cx="849960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del sistema.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2087854">
              <a:off x="1093696" y="1093696"/>
              <a:ext cx="5582188" cy="558218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90575" cap="sq">
                <a:gradFill>
                  <a:gsLst>
                    <a:gs pos="0">
                      <a:srgbClr val="F5DFF0">
                        <a:alpha val="29500"/>
                      </a:srgbClr>
                    </a:gs>
                    <a:gs pos="100000">
                      <a:srgbClr val="C6269E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7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73666" y="2877567"/>
            <a:ext cx="1283246" cy="494364"/>
            <a:chOff x="0" y="0"/>
            <a:chExt cx="311818" cy="120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818" cy="120126"/>
            </a:xfrm>
            <a:custGeom>
              <a:avLst/>
              <a:gdLst/>
              <a:ahLst/>
              <a:cxnLst/>
              <a:rect r="r" b="b" t="t" l="l"/>
              <a:pathLst>
                <a:path h="120126" w="311818">
                  <a:moveTo>
                    <a:pt x="0" y="0"/>
                  </a:moveTo>
                  <a:lnTo>
                    <a:pt x="311818" y="0"/>
                  </a:lnTo>
                  <a:lnTo>
                    <a:pt x="311818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11818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40881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1: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03151" y="2877567"/>
            <a:ext cx="1330579" cy="494364"/>
            <a:chOff x="0" y="0"/>
            <a:chExt cx="323319" cy="1201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70366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2: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3839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usuario se registra y se guarda en el “Servidor Correo”.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7090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Cuando envía un mensaje, este entra a la lista del servidor.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73666" y="6099409"/>
            <a:ext cx="1442434" cy="494364"/>
            <a:chOff x="0" y="0"/>
            <a:chExt cx="350499" cy="1201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499" cy="120126"/>
            </a:xfrm>
            <a:custGeom>
              <a:avLst/>
              <a:gdLst/>
              <a:ahLst/>
              <a:cxnLst/>
              <a:rect r="r" b="b" t="t" l="l"/>
              <a:pathLst>
                <a:path h="120126" w="350499">
                  <a:moveTo>
                    <a:pt x="0" y="0"/>
                  </a:moveTo>
                  <a:lnTo>
                    <a:pt x="350499" y="0"/>
                  </a:lnTo>
                  <a:lnTo>
                    <a:pt x="35049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35049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40881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3: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03151" y="6099409"/>
            <a:ext cx="1330579" cy="494364"/>
            <a:chOff x="0" y="0"/>
            <a:chExt cx="323319" cy="1201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270907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4: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8397" y="6904016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servidor procesa la lista y entrega los mensajes a los destinatarios.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70366" y="6904016"/>
            <a:ext cx="3789401" cy="16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Los usuarios pueden organizar esos correos recibidos en carpetas y subcarpetas.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2782828" y="5846343"/>
            <a:ext cx="3523197" cy="2421397"/>
          </a:xfrm>
          <a:custGeom>
            <a:avLst/>
            <a:gdLst/>
            <a:ahLst/>
            <a:cxnLst/>
            <a:rect r="r" b="b" t="t" l="l"/>
            <a:pathLst>
              <a:path h="2421397" w="3523197">
                <a:moveTo>
                  <a:pt x="0" y="0"/>
                </a:moveTo>
                <a:lnTo>
                  <a:pt x="3523196" y="0"/>
                </a:lnTo>
                <a:lnTo>
                  <a:pt x="3523196" y="2421397"/>
                </a:lnTo>
                <a:lnTo>
                  <a:pt x="0" y="24213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3013799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48998" y="2954658"/>
            <a:ext cx="4959427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3091" y="3858132"/>
            <a:ext cx="484225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Kanban: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4851" y="4833450"/>
            <a:ext cx="6848312" cy="260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estamos utilizando la metodología ágil llamada “Kanban”.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 trata de un tablero visual con columnas (Por hacer, En progreso, Hecho) que permite ver el flujo del trabajo y limitar las tareas activas.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Mejorando la organización y comunicación en el avance del proyecto.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00276" y="3537550"/>
            <a:ext cx="8369728" cy="6719981"/>
            <a:chOff x="0" y="0"/>
            <a:chExt cx="7467600" cy="5995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483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3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105" y="3610958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337208" y="2404860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53754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22593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0" y="0"/>
                </a:lnTo>
                <a:lnTo>
                  <a:pt x="998650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37208" y="4685676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34154" y="6902025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34154" y="861683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56808" y="5084711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4"/>
                </a:lnTo>
                <a:lnTo>
                  <a:pt x="0" y="9540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53754" y="7439862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10901506" y="3099597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3197253" y="3081379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10544159" y="5850084"/>
            <a:ext cx="1266276" cy="15247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2564712" y="677365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933480" y="406477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951698" y="6250516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9933480" y="8163337"/>
            <a:ext cx="0" cy="405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8273050" y="1753802"/>
            <a:ext cx="7631593" cy="8182275"/>
            <a:chOff x="0" y="0"/>
            <a:chExt cx="2009967" cy="21550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09967" cy="2155002"/>
            </a:xfrm>
            <a:custGeom>
              <a:avLst/>
              <a:gdLst/>
              <a:ahLst/>
              <a:cxnLst/>
              <a:rect r="r" b="b" t="t" l="l"/>
              <a:pathLst>
                <a:path h="2155002" w="2009967">
                  <a:moveTo>
                    <a:pt x="0" y="0"/>
                  </a:moveTo>
                  <a:lnTo>
                    <a:pt x="2009967" y="0"/>
                  </a:lnTo>
                  <a:lnTo>
                    <a:pt x="2009967" y="2155002"/>
                  </a:lnTo>
                  <a:lnTo>
                    <a:pt x="0" y="2155002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24000"/>
                  </a:srgbClr>
                </a:gs>
                <a:gs pos="100000">
                  <a:srgbClr val="DDBAFF">
                    <a:alpha val="288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2009967" cy="2126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93987" y="3768651"/>
            <a:ext cx="5520710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Estructura del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3987" y="4411039"/>
            <a:ext cx="6698038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Arbol de Carpetas: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46532" y="3458001"/>
            <a:ext cx="973896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Raíz del Usuario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51951" y="1957437"/>
            <a:ext cx="2963057" cy="3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286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Carpeta Principal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08496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Archivados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77335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Spam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4290" y="5440697"/>
            <a:ext cx="5917432" cy="111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nosotros estamos utilizando una estructura de Árbol para las decisiones del usuario y las interacciones del software con él.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36554" y="5741753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entrada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88896" y="7876455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Urgente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38642" y="9589246"/>
            <a:ext cx="2226112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Estudios (Personalizado)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6154" y="6140787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salida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08496" y="8414292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Borradores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3202" y="-126391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5706" y="5248807"/>
            <a:ext cx="535305" cy="535305"/>
            <a:chOff x="0" y="0"/>
            <a:chExt cx="120126" cy="120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84168" y="4014488"/>
            <a:ext cx="6141123" cy="4127099"/>
          </a:xfrm>
          <a:custGeom>
            <a:avLst/>
            <a:gdLst/>
            <a:ahLst/>
            <a:cxnLst/>
            <a:rect r="r" b="b" t="t" l="l"/>
            <a:pathLst>
              <a:path h="4127099" w="6141123">
                <a:moveTo>
                  <a:pt x="0" y="0"/>
                </a:moveTo>
                <a:lnTo>
                  <a:pt x="6141122" y="0"/>
                </a:lnTo>
                <a:lnTo>
                  <a:pt x="6141122" y="4127099"/>
                </a:lnTo>
                <a:lnTo>
                  <a:pt x="0" y="4127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24355" y="2817332"/>
            <a:ext cx="4941667" cy="437650"/>
            <a:chOff x="0" y="0"/>
            <a:chExt cx="1650234" cy="146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0234" cy="146150"/>
            </a:xfrm>
            <a:custGeom>
              <a:avLst/>
              <a:gdLst/>
              <a:ahLst/>
              <a:cxnLst/>
              <a:rect r="r" b="b" t="t" l="l"/>
              <a:pathLst>
                <a:path h="146150" w="1650234">
                  <a:moveTo>
                    <a:pt x="0" y="0"/>
                  </a:moveTo>
                  <a:lnTo>
                    <a:pt x="1650234" y="0"/>
                  </a:lnTo>
                  <a:lnTo>
                    <a:pt x="1650234" y="146150"/>
                  </a:lnTo>
                  <a:lnTo>
                    <a:pt x="0" y="146150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650234" cy="1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2597" y="2307337"/>
            <a:ext cx="5099075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Utilización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1976" y="2307337"/>
            <a:ext cx="5354634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de Grafos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0592" y="5163082"/>
            <a:ext cx="4455093" cy="58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329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¿Cómo lo usamos?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6207" y="6011362"/>
            <a:ext cx="8953431" cy="244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el proyecto, la clase RedServidores modela la red de servidores como un grafo no dirigido.</a:t>
            </a:r>
          </a:p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Implementamos</a:t>
            </a: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los algoritmos: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BFS 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DFS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6207" y="3644708"/>
            <a:ext cx="9228551" cy="10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Un grafo es una estructura de datos compuesta por nodos (vértices) y conexiones (aristas).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DAG1-dHa5-k</dc:identifier>
  <dcterms:modified xsi:type="dcterms:W3CDTF">2011-08-01T06:04:30Z</dcterms:modified>
  <cp:revision>1</cp:revision>
  <dc:title>Purple Black Modern Marketing Plan Presentation</dc:title>
</cp:coreProperties>
</file>