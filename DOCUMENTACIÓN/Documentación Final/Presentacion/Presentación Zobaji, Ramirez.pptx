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Raleway Heavy" charset="1" panose="00000000000000000000"/>
      <p:regular r:id="rId17"/>
    </p:embeddedFont>
    <p:embeddedFont>
      <p:font typeface="Raleway Bold" charset="1" panose="00000000000000000000"/>
      <p:regular r:id="rId18"/>
    </p:embeddedFont>
    <p:embeddedFont>
      <p:font typeface="Raleway" charset="1" panose="00000000000000000000"/>
      <p:regular r:id="rId19"/>
    </p:embeddedFont>
    <p:embeddedFont>
      <p:font typeface="Montserrat Bold" charset="1" panose="000008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20.jpe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2283244">
            <a:off x="-4759168" y="4375423"/>
            <a:ext cx="10358005" cy="10410055"/>
          </a:xfrm>
          <a:custGeom>
            <a:avLst/>
            <a:gdLst/>
            <a:ahLst/>
            <a:cxnLst/>
            <a:rect r="r" b="b" t="t" l="l"/>
            <a:pathLst>
              <a:path h="10410055" w="10358005">
                <a:moveTo>
                  <a:pt x="10358005" y="0"/>
                </a:moveTo>
                <a:lnTo>
                  <a:pt x="0" y="0"/>
                </a:lnTo>
                <a:lnTo>
                  <a:pt x="0" y="10410055"/>
                </a:lnTo>
                <a:lnTo>
                  <a:pt x="10358005" y="10410055"/>
                </a:lnTo>
                <a:lnTo>
                  <a:pt x="10358005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30741" y="-10904054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16270" y="3886609"/>
            <a:ext cx="912505" cy="912505"/>
          </a:xfrm>
          <a:custGeom>
            <a:avLst/>
            <a:gdLst/>
            <a:ahLst/>
            <a:cxnLst/>
            <a:rect r="r" b="b" t="t" l="l"/>
            <a:pathLst>
              <a:path h="912505" w="912505">
                <a:moveTo>
                  <a:pt x="0" y="0"/>
                </a:moveTo>
                <a:lnTo>
                  <a:pt x="912505" y="0"/>
                </a:lnTo>
                <a:lnTo>
                  <a:pt x="912505" y="912505"/>
                </a:lnTo>
                <a:lnTo>
                  <a:pt x="0" y="9125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051607" y="1061398"/>
            <a:ext cx="551236" cy="518162"/>
          </a:xfrm>
          <a:custGeom>
            <a:avLst/>
            <a:gdLst/>
            <a:ahLst/>
            <a:cxnLst/>
            <a:rect r="r" b="b" t="t" l="l"/>
            <a:pathLst>
              <a:path h="518162" w="551236">
                <a:moveTo>
                  <a:pt x="0" y="0"/>
                </a:moveTo>
                <a:lnTo>
                  <a:pt x="551236" y="0"/>
                </a:lnTo>
                <a:lnTo>
                  <a:pt x="551236" y="518162"/>
                </a:lnTo>
                <a:lnTo>
                  <a:pt x="0" y="5181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260923" y="911708"/>
            <a:ext cx="667852" cy="66785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27000" y="155575"/>
              <a:ext cx="5588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2455026" y="-917369"/>
            <a:ext cx="4220884" cy="422088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051607" y="3064684"/>
            <a:ext cx="11730461" cy="242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90"/>
              </a:lnSpc>
              <a:spcBef>
                <a:spcPct val="0"/>
              </a:spcBef>
            </a:pPr>
            <a:r>
              <a:rPr lang="en-US" b="true" sz="17682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Proyecto: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51607" y="5456657"/>
            <a:ext cx="10465210" cy="2242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67"/>
              </a:lnSpc>
              <a:spcBef>
                <a:spcPct val="0"/>
              </a:spcBef>
            </a:pPr>
            <a:r>
              <a:rPr lang="en-US" b="true" sz="8334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>Cliente de correo electrónico.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12262" y="8660591"/>
            <a:ext cx="3631063" cy="34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7"/>
              </a:lnSpc>
              <a:spcBef>
                <a:spcPct val="0"/>
              </a:spcBef>
            </a:pPr>
            <a:r>
              <a:rPr lang="en-US" sz="24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Catedra: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212262" y="9034401"/>
            <a:ext cx="3631063" cy="42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6"/>
              </a:lnSpc>
              <a:spcBef>
                <a:spcPct val="0"/>
              </a:spcBef>
            </a:pPr>
            <a:r>
              <a:rPr lang="en-US" b="true" sz="2958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Estructura de datos.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886728" y="1156371"/>
            <a:ext cx="5801874" cy="356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1"/>
              </a:lnSpc>
              <a:spcBef>
                <a:spcPct val="0"/>
              </a:spcBef>
            </a:pPr>
            <a:r>
              <a:rPr lang="en-US" sz="25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María Lara Zobaji, Mauricio Ramirez.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214525" y="1146803"/>
            <a:ext cx="3200322" cy="291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5"/>
              </a:lnSpc>
              <a:spcBef>
                <a:spcPct val="0"/>
              </a:spcBef>
            </a:pPr>
            <a:r>
              <a:rPr lang="en-US" b="true" sz="215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Grupo 29 - Comisión 2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882414" y="6088611"/>
            <a:ext cx="5809652" cy="5809652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5309115" y="9072819"/>
            <a:ext cx="1716617" cy="34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7"/>
              </a:lnSpc>
              <a:spcBef>
                <a:spcPct val="0"/>
              </a:spcBef>
            </a:pPr>
            <a:r>
              <a:rPr lang="en-US" sz="24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Siguiente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1838431" y="2646909"/>
            <a:ext cx="9328334" cy="9328334"/>
            <a:chOff x="0" y="0"/>
            <a:chExt cx="14840029" cy="148400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-366471" y="-11891"/>
              <a:ext cx="15572971" cy="14863810"/>
            </a:xfrm>
            <a:custGeom>
              <a:avLst/>
              <a:gdLst/>
              <a:ahLst/>
              <a:cxnLst/>
              <a:rect r="r" b="b" t="t" l="l"/>
              <a:pathLst>
                <a:path h="14863810" w="15572971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-156193" y="188812"/>
              <a:ext cx="15152415" cy="14462405"/>
            </a:xfrm>
            <a:custGeom>
              <a:avLst/>
              <a:gdLst/>
              <a:ahLst/>
              <a:cxnLst/>
              <a:rect r="r" b="b" t="t" l="l"/>
              <a:pathLst>
                <a:path h="14462405" w="1515241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23301" y="551024"/>
              <a:ext cx="14393427" cy="13737979"/>
            </a:xfrm>
            <a:custGeom>
              <a:avLst/>
              <a:gdLst/>
              <a:ahLst/>
              <a:cxnLst/>
              <a:rect r="r" b="b" t="t" l="l"/>
              <a:pathLst>
                <a:path h="13737979" w="14393427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2"/>
              <a:stretch>
                <a:fillRect l="223" t="0" r="-44765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6179439" y="-10904054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50" y="0"/>
                </a:lnTo>
                <a:lnTo>
                  <a:pt x="17956750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2661483" y="2951751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50" y="0"/>
                </a:lnTo>
                <a:lnTo>
                  <a:pt x="17956750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62380" y="895930"/>
            <a:ext cx="15363240" cy="667852"/>
            <a:chOff x="0" y="0"/>
            <a:chExt cx="20484320" cy="8904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199587"/>
              <a:ext cx="734981" cy="690883"/>
            </a:xfrm>
            <a:custGeom>
              <a:avLst/>
              <a:gdLst/>
              <a:ahLst/>
              <a:cxnLst/>
              <a:rect r="r" b="b" t="t" l="l"/>
              <a:pathLst>
                <a:path h="690883" w="734981">
                  <a:moveTo>
                    <a:pt x="0" y="0"/>
                  </a:moveTo>
                  <a:lnTo>
                    <a:pt x="734981" y="0"/>
                  </a:lnTo>
                  <a:lnTo>
                    <a:pt x="734981" y="690882"/>
                  </a:lnTo>
                  <a:lnTo>
                    <a:pt x="0" y="690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1" id="11"/>
            <p:cNvGrpSpPr/>
            <p:nvPr/>
          </p:nvGrpSpPr>
          <p:grpSpPr>
            <a:xfrm rot="0">
              <a:off x="14945754" y="0"/>
              <a:ext cx="890469" cy="890469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85289" y="111986"/>
                    </a:lnTo>
                    <a:lnTo>
                      <a:pt x="609600" y="54447"/>
                    </a:lnTo>
                    <a:lnTo>
                      <a:pt x="621927" y="190873"/>
                    </a:lnTo>
                    <a:lnTo>
                      <a:pt x="758353" y="203200"/>
                    </a:lnTo>
                    <a:lnTo>
                      <a:pt x="700814" y="327511"/>
                    </a:lnTo>
                    <a:lnTo>
                      <a:pt x="812800" y="406400"/>
                    </a:lnTo>
                    <a:lnTo>
                      <a:pt x="700814" y="485289"/>
                    </a:lnTo>
                    <a:lnTo>
                      <a:pt x="758353" y="609600"/>
                    </a:lnTo>
                    <a:lnTo>
                      <a:pt x="621927" y="621927"/>
                    </a:lnTo>
                    <a:lnTo>
                      <a:pt x="609600" y="758353"/>
                    </a:lnTo>
                    <a:lnTo>
                      <a:pt x="485289" y="700814"/>
                    </a:lnTo>
                    <a:lnTo>
                      <a:pt x="406400" y="812800"/>
                    </a:lnTo>
                    <a:lnTo>
                      <a:pt x="327511" y="700814"/>
                    </a:lnTo>
                    <a:lnTo>
                      <a:pt x="203200" y="758353"/>
                    </a:lnTo>
                    <a:lnTo>
                      <a:pt x="190873" y="621927"/>
                    </a:lnTo>
                    <a:lnTo>
                      <a:pt x="54447" y="609600"/>
                    </a:lnTo>
                    <a:lnTo>
                      <a:pt x="111986" y="485289"/>
                    </a:lnTo>
                    <a:lnTo>
                      <a:pt x="0" y="406400"/>
                    </a:lnTo>
                    <a:lnTo>
                      <a:pt x="111986" y="327511"/>
                    </a:lnTo>
                    <a:lnTo>
                      <a:pt x="54447" y="203200"/>
                    </a:lnTo>
                    <a:lnTo>
                      <a:pt x="190873" y="190873"/>
                    </a:lnTo>
                    <a:lnTo>
                      <a:pt x="203200" y="54447"/>
                    </a:lnTo>
                    <a:lnTo>
                      <a:pt x="327511" y="111986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2F1EB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127000" y="155575"/>
                <a:ext cx="558800" cy="530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1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1113494" y="316692"/>
              <a:ext cx="7735832" cy="4852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61"/>
                </a:lnSpc>
                <a:spcBef>
                  <a:spcPct val="0"/>
                </a:spcBef>
              </a:pPr>
              <a:r>
                <a:rPr lang="en-US" sz="2558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María Lara Zobaji, Mauricio Ramirez.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6217223" y="303936"/>
              <a:ext cx="4267096" cy="3982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5"/>
                </a:lnSpc>
                <a:spcBef>
                  <a:spcPct val="0"/>
                </a:spcBef>
              </a:pPr>
              <a:r>
                <a:rPr lang="en-US" b="true" sz="2158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Grupo 29 - Comisión 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324725" y="2729361"/>
            <a:ext cx="1409301" cy="616094"/>
            <a:chOff x="0" y="0"/>
            <a:chExt cx="481371" cy="21043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81371" cy="210437"/>
            </a:xfrm>
            <a:custGeom>
              <a:avLst/>
              <a:gdLst/>
              <a:ahLst/>
              <a:cxnLst/>
              <a:rect r="r" b="b" t="t" l="l"/>
              <a:pathLst>
                <a:path h="210437" w="481371">
                  <a:moveTo>
                    <a:pt x="0" y="0"/>
                  </a:moveTo>
                  <a:lnTo>
                    <a:pt x="481371" y="0"/>
                  </a:lnTo>
                  <a:lnTo>
                    <a:pt x="481371" y="210437"/>
                  </a:lnTo>
                  <a:lnTo>
                    <a:pt x="0" y="210437"/>
                  </a:ln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481371" cy="1818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8209025" y="2780259"/>
            <a:ext cx="6092608" cy="1263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51"/>
              </a:lnSpc>
              <a:spcBef>
                <a:spcPct val="0"/>
              </a:spcBef>
            </a:pPr>
            <a:r>
              <a:rPr lang="en-US" b="true" sz="9184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Nuestro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482790" y="3725009"/>
            <a:ext cx="8064883" cy="1298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56"/>
              </a:lnSpc>
              <a:spcBef>
                <a:spcPct val="0"/>
              </a:spcBef>
            </a:pPr>
            <a:r>
              <a:rPr lang="en-US" b="true" sz="9477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>Proyecto: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889644" y="5135460"/>
            <a:ext cx="8109186" cy="3221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6"/>
              </a:lnSpc>
            </a:pPr>
            <a:r>
              <a:rPr lang="en-US" sz="2297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El proyecto es una simulación de un sistema de cliente de correo electrónico, desarrollado en Python con enfoque en programación orientada a objetos (POO).</a:t>
            </a:r>
          </a:p>
          <a:p>
            <a:pPr algn="l">
              <a:lnSpc>
                <a:spcPts val="3216"/>
              </a:lnSpc>
            </a:pPr>
            <a:r>
              <a:rPr lang="en-US" sz="2297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 Su propósito principal es modelar el funcionamiento de un servicio de correo (como Gmail o Outlook, pero en versión simplificada), aplicando estructuras de datos y principios de encapsulamiento y modularidad.</a:t>
            </a:r>
          </a:p>
          <a:p>
            <a:pPr algn="l">
              <a:lnSpc>
                <a:spcPts val="3216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47191" y="-1107704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50" y="0"/>
                </a:lnTo>
                <a:lnTo>
                  <a:pt x="17956750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769799" y="360481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144000" y="3013799"/>
            <a:ext cx="1299534" cy="568108"/>
            <a:chOff x="0" y="0"/>
            <a:chExt cx="481371" cy="2104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371" cy="210437"/>
            </a:xfrm>
            <a:custGeom>
              <a:avLst/>
              <a:gdLst/>
              <a:ahLst/>
              <a:cxnLst/>
              <a:rect r="r" b="b" t="t" l="l"/>
              <a:pathLst>
                <a:path h="210437" w="481371">
                  <a:moveTo>
                    <a:pt x="0" y="0"/>
                  </a:moveTo>
                  <a:lnTo>
                    <a:pt x="481371" y="0"/>
                  </a:lnTo>
                  <a:lnTo>
                    <a:pt x="481371" y="210437"/>
                  </a:lnTo>
                  <a:lnTo>
                    <a:pt x="0" y="210437"/>
                  </a:ln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481371" cy="1818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048998" y="2954658"/>
            <a:ext cx="4959427" cy="103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475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Metodo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33091" y="3858132"/>
            <a:ext cx="4842255" cy="103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475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>Kanban: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84851" y="4833450"/>
            <a:ext cx="6848312" cy="260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5"/>
              </a:lnSpc>
            </a:pPr>
            <a:r>
              <a:rPr lang="en-US" sz="2118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En este proyecto estamos utilizando la metodología ágil llamada “Kanban”.</a:t>
            </a:r>
          </a:p>
          <a:p>
            <a:pPr algn="l">
              <a:lnSpc>
                <a:spcPts val="2965"/>
              </a:lnSpc>
            </a:pPr>
            <a:r>
              <a:rPr lang="en-US" sz="2118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Se trata de un tablero visual con columnas (Por hacer, En progreso, Hecho) que permite ver el flujo del trabajo y limitar las tareas activas.</a:t>
            </a:r>
          </a:p>
          <a:p>
            <a:pPr algn="l">
              <a:lnSpc>
                <a:spcPts val="2965"/>
              </a:lnSpc>
            </a:pPr>
            <a:r>
              <a:rPr lang="en-US" sz="2118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Mejorando la organización y comunicación en el avance del proyecto.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62380" y="895930"/>
            <a:ext cx="15363240" cy="667852"/>
            <a:chOff x="0" y="0"/>
            <a:chExt cx="20484320" cy="8904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199587"/>
              <a:ext cx="734981" cy="690883"/>
            </a:xfrm>
            <a:custGeom>
              <a:avLst/>
              <a:gdLst/>
              <a:ahLst/>
              <a:cxnLst/>
              <a:rect r="r" b="b" t="t" l="l"/>
              <a:pathLst>
                <a:path h="690883" w="734981">
                  <a:moveTo>
                    <a:pt x="0" y="0"/>
                  </a:moveTo>
                  <a:lnTo>
                    <a:pt x="734981" y="0"/>
                  </a:lnTo>
                  <a:lnTo>
                    <a:pt x="734981" y="690882"/>
                  </a:lnTo>
                  <a:lnTo>
                    <a:pt x="0" y="690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3" id="13"/>
            <p:cNvGrpSpPr/>
            <p:nvPr/>
          </p:nvGrpSpPr>
          <p:grpSpPr>
            <a:xfrm rot="0">
              <a:off x="14945754" y="0"/>
              <a:ext cx="890469" cy="890469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85289" y="111986"/>
                    </a:lnTo>
                    <a:lnTo>
                      <a:pt x="609600" y="54447"/>
                    </a:lnTo>
                    <a:lnTo>
                      <a:pt x="621927" y="190873"/>
                    </a:lnTo>
                    <a:lnTo>
                      <a:pt x="758353" y="203200"/>
                    </a:lnTo>
                    <a:lnTo>
                      <a:pt x="700814" y="327511"/>
                    </a:lnTo>
                    <a:lnTo>
                      <a:pt x="812800" y="406400"/>
                    </a:lnTo>
                    <a:lnTo>
                      <a:pt x="700814" y="485289"/>
                    </a:lnTo>
                    <a:lnTo>
                      <a:pt x="758353" y="609600"/>
                    </a:lnTo>
                    <a:lnTo>
                      <a:pt x="621927" y="621927"/>
                    </a:lnTo>
                    <a:lnTo>
                      <a:pt x="609600" y="758353"/>
                    </a:lnTo>
                    <a:lnTo>
                      <a:pt x="485289" y="700814"/>
                    </a:lnTo>
                    <a:lnTo>
                      <a:pt x="406400" y="812800"/>
                    </a:lnTo>
                    <a:lnTo>
                      <a:pt x="327511" y="700814"/>
                    </a:lnTo>
                    <a:lnTo>
                      <a:pt x="203200" y="758353"/>
                    </a:lnTo>
                    <a:lnTo>
                      <a:pt x="190873" y="621927"/>
                    </a:lnTo>
                    <a:lnTo>
                      <a:pt x="54447" y="609600"/>
                    </a:lnTo>
                    <a:lnTo>
                      <a:pt x="111986" y="485289"/>
                    </a:lnTo>
                    <a:lnTo>
                      <a:pt x="0" y="406400"/>
                    </a:lnTo>
                    <a:lnTo>
                      <a:pt x="111986" y="327511"/>
                    </a:lnTo>
                    <a:lnTo>
                      <a:pt x="54447" y="203200"/>
                    </a:lnTo>
                    <a:lnTo>
                      <a:pt x="190873" y="190873"/>
                    </a:lnTo>
                    <a:lnTo>
                      <a:pt x="203200" y="54447"/>
                    </a:lnTo>
                    <a:lnTo>
                      <a:pt x="327511" y="111986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2F1EB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27000" y="155575"/>
                <a:ext cx="558800" cy="530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1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1113494" y="316692"/>
              <a:ext cx="7735832" cy="4852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61"/>
                </a:lnSpc>
                <a:spcBef>
                  <a:spcPct val="0"/>
                </a:spcBef>
              </a:pPr>
              <a:r>
                <a:rPr lang="en-US" sz="2558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María Lara Zobaji, Mauricio Ramirez.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6217223" y="303936"/>
              <a:ext cx="4267096" cy="3982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5"/>
                </a:lnSpc>
                <a:spcBef>
                  <a:spcPct val="0"/>
                </a:spcBef>
              </a:pPr>
              <a:r>
                <a:rPr lang="en-US" b="true" sz="2158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Grupo 29 - Comisión 2</a:t>
              </a:r>
            </a:p>
          </p:txBody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700276" y="3537550"/>
            <a:ext cx="8369728" cy="6719981"/>
            <a:chOff x="0" y="0"/>
            <a:chExt cx="7467600" cy="599567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gradFill rotWithShape="true">
              <a:gsLst>
                <a:gs pos="0">
                  <a:srgbClr val="1F1A1A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429510" y="5210810"/>
              <a:ext cx="2606040" cy="791210"/>
            </a:xfrm>
            <a:custGeom>
              <a:avLst/>
              <a:gdLst/>
              <a:ahLst/>
              <a:cxnLst/>
              <a:rect r="r" b="b" t="t" l="l"/>
              <a:pathLst>
                <a:path h="791210" w="2606040">
                  <a:moveTo>
                    <a:pt x="1258570" y="0"/>
                  </a:moveTo>
                  <a:lnTo>
                    <a:pt x="453390" y="0"/>
                  </a:lnTo>
                  <a:cubicBezTo>
                    <a:pt x="453390" y="0"/>
                    <a:pt x="429260" y="370840"/>
                    <a:pt x="403860" y="525780"/>
                  </a:cubicBezTo>
                  <a:cubicBezTo>
                    <a:pt x="359410" y="791210"/>
                    <a:pt x="87630" y="706120"/>
                    <a:pt x="10160" y="762000"/>
                  </a:cubicBezTo>
                  <a:cubicBezTo>
                    <a:pt x="0" y="769620"/>
                    <a:pt x="5080" y="786130"/>
                    <a:pt x="17780" y="786130"/>
                  </a:cubicBezTo>
                  <a:lnTo>
                    <a:pt x="2588260" y="786130"/>
                  </a:lnTo>
                  <a:cubicBezTo>
                    <a:pt x="2600960" y="786130"/>
                    <a:pt x="2606040" y="769620"/>
                    <a:pt x="2595880" y="762000"/>
                  </a:cubicBezTo>
                  <a:cubicBezTo>
                    <a:pt x="2518410" y="706120"/>
                    <a:pt x="2246630" y="791210"/>
                    <a:pt x="2202180" y="525780"/>
                  </a:cubicBezTo>
                  <a:cubicBezTo>
                    <a:pt x="2176780" y="370840"/>
                    <a:pt x="2152650" y="0"/>
                    <a:pt x="2152650" y="0"/>
                  </a:cubicBezTo>
                  <a:lnTo>
                    <a:pt x="1258570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24831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25283" y="-1262009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140649" y="5426888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3677911" y="1229856"/>
            <a:ext cx="11845164" cy="5827185"/>
            <a:chOff x="0" y="0"/>
            <a:chExt cx="15793551" cy="7769581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6989881" y="3139323"/>
              <a:ext cx="8803671" cy="12618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9"/>
                </a:lnSpc>
                <a:spcBef>
                  <a:spcPct val="0"/>
                </a:spcBef>
              </a:pPr>
              <a:r>
                <a:rPr lang="en-US" b="true" sz="6643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Funcionamiento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6989881" y="4209867"/>
              <a:ext cx="8499601" cy="12618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9"/>
                </a:lnSpc>
                <a:spcBef>
                  <a:spcPct val="0"/>
                </a:spcBef>
              </a:pPr>
              <a:r>
                <a:rPr lang="en-US" b="true" sz="6643">
                  <a:solidFill>
                    <a:srgbClr val="C6269E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del sistema.</a:t>
              </a:r>
            </a:p>
          </p:txBody>
        </p:sp>
        <p:grpSp>
          <p:nvGrpSpPr>
            <p:cNvPr name="Group 8" id="8"/>
            <p:cNvGrpSpPr/>
            <p:nvPr/>
          </p:nvGrpSpPr>
          <p:grpSpPr>
            <a:xfrm rot="2087854">
              <a:off x="1093696" y="1093696"/>
              <a:ext cx="5582188" cy="5582188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790575" cap="sq">
                <a:gradFill>
                  <a:gsLst>
                    <a:gs pos="0">
                      <a:srgbClr val="F5DFF0">
                        <a:alpha val="29500"/>
                      </a:srgbClr>
                    </a:gs>
                    <a:gs pos="100000">
                      <a:srgbClr val="C6269E">
                        <a:alpha val="100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104775"/>
                <a:ext cx="660400" cy="631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57"/>
                  </a:lnSpc>
                </a:pPr>
              </a:p>
            </p:txBody>
          </p:sp>
        </p:grpSp>
      </p:grpSp>
      <p:grpSp>
        <p:nvGrpSpPr>
          <p:cNvPr name="Group 11" id="11"/>
          <p:cNvGrpSpPr/>
          <p:nvPr/>
        </p:nvGrpSpPr>
        <p:grpSpPr>
          <a:xfrm rot="0">
            <a:off x="1462380" y="895930"/>
            <a:ext cx="15363240" cy="667852"/>
            <a:chOff x="0" y="0"/>
            <a:chExt cx="20484320" cy="8904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199587"/>
              <a:ext cx="734981" cy="690883"/>
            </a:xfrm>
            <a:custGeom>
              <a:avLst/>
              <a:gdLst/>
              <a:ahLst/>
              <a:cxnLst/>
              <a:rect r="r" b="b" t="t" l="l"/>
              <a:pathLst>
                <a:path h="690883" w="734981">
                  <a:moveTo>
                    <a:pt x="0" y="0"/>
                  </a:moveTo>
                  <a:lnTo>
                    <a:pt x="734981" y="0"/>
                  </a:lnTo>
                  <a:lnTo>
                    <a:pt x="734981" y="690882"/>
                  </a:lnTo>
                  <a:lnTo>
                    <a:pt x="0" y="690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3" id="13"/>
            <p:cNvGrpSpPr/>
            <p:nvPr/>
          </p:nvGrpSpPr>
          <p:grpSpPr>
            <a:xfrm rot="0">
              <a:off x="14945754" y="0"/>
              <a:ext cx="890469" cy="890469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85289" y="111986"/>
                    </a:lnTo>
                    <a:lnTo>
                      <a:pt x="609600" y="54447"/>
                    </a:lnTo>
                    <a:lnTo>
                      <a:pt x="621927" y="190873"/>
                    </a:lnTo>
                    <a:lnTo>
                      <a:pt x="758353" y="203200"/>
                    </a:lnTo>
                    <a:lnTo>
                      <a:pt x="700814" y="327511"/>
                    </a:lnTo>
                    <a:lnTo>
                      <a:pt x="812800" y="406400"/>
                    </a:lnTo>
                    <a:lnTo>
                      <a:pt x="700814" y="485289"/>
                    </a:lnTo>
                    <a:lnTo>
                      <a:pt x="758353" y="609600"/>
                    </a:lnTo>
                    <a:lnTo>
                      <a:pt x="621927" y="621927"/>
                    </a:lnTo>
                    <a:lnTo>
                      <a:pt x="609600" y="758353"/>
                    </a:lnTo>
                    <a:lnTo>
                      <a:pt x="485289" y="700814"/>
                    </a:lnTo>
                    <a:lnTo>
                      <a:pt x="406400" y="812800"/>
                    </a:lnTo>
                    <a:lnTo>
                      <a:pt x="327511" y="700814"/>
                    </a:lnTo>
                    <a:lnTo>
                      <a:pt x="203200" y="758353"/>
                    </a:lnTo>
                    <a:lnTo>
                      <a:pt x="190873" y="621927"/>
                    </a:lnTo>
                    <a:lnTo>
                      <a:pt x="54447" y="609600"/>
                    </a:lnTo>
                    <a:lnTo>
                      <a:pt x="111986" y="485289"/>
                    </a:lnTo>
                    <a:lnTo>
                      <a:pt x="0" y="406400"/>
                    </a:lnTo>
                    <a:lnTo>
                      <a:pt x="111986" y="327511"/>
                    </a:lnTo>
                    <a:lnTo>
                      <a:pt x="54447" y="203200"/>
                    </a:lnTo>
                    <a:lnTo>
                      <a:pt x="190873" y="190873"/>
                    </a:lnTo>
                    <a:lnTo>
                      <a:pt x="203200" y="54447"/>
                    </a:lnTo>
                    <a:lnTo>
                      <a:pt x="327511" y="111986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2F1EB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27000" y="155575"/>
                <a:ext cx="558800" cy="530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1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1113494" y="316692"/>
              <a:ext cx="7735832" cy="4852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61"/>
                </a:lnSpc>
                <a:spcBef>
                  <a:spcPct val="0"/>
                </a:spcBef>
              </a:pPr>
              <a:r>
                <a:rPr lang="en-US" sz="2558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María Lara Zobaji, Mauricio Ramirez.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6217223" y="303936"/>
              <a:ext cx="4267096" cy="3982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5"/>
                </a:lnSpc>
                <a:spcBef>
                  <a:spcPct val="0"/>
                </a:spcBef>
              </a:pPr>
              <a:r>
                <a:rPr lang="en-US" b="true" sz="2158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Grupo 29 - Comisión 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373666" y="2877567"/>
            <a:ext cx="1283246" cy="494364"/>
            <a:chOff x="0" y="0"/>
            <a:chExt cx="311818" cy="12012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1818" cy="120126"/>
            </a:xfrm>
            <a:custGeom>
              <a:avLst/>
              <a:gdLst/>
              <a:ahLst/>
              <a:cxnLst/>
              <a:rect r="r" b="b" t="t" l="l"/>
              <a:pathLst>
                <a:path h="120126" w="311818">
                  <a:moveTo>
                    <a:pt x="0" y="0"/>
                  </a:moveTo>
                  <a:lnTo>
                    <a:pt x="311818" y="0"/>
                  </a:lnTo>
                  <a:lnTo>
                    <a:pt x="311818" y="120126"/>
                  </a:lnTo>
                  <a:lnTo>
                    <a:pt x="0" y="120126"/>
                  </a:ln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28575"/>
              <a:ext cx="311818" cy="91551"/>
            </a:xfrm>
            <a:prstGeom prst="rect">
              <a:avLst/>
            </a:prstGeom>
          </p:spPr>
          <p:txBody>
            <a:bodyPr anchor="ctr" rtlCol="false" tIns="50047" lIns="50047" bIns="50047" rIns="50047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240881" y="2724901"/>
            <a:ext cx="3185200" cy="713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4"/>
              </a:lnSpc>
            </a:pPr>
            <a:r>
              <a:rPr lang="en-US" sz="4124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1: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3403151" y="2877567"/>
            <a:ext cx="1330579" cy="494364"/>
            <a:chOff x="0" y="0"/>
            <a:chExt cx="323319" cy="12012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23319" cy="120126"/>
            </a:xfrm>
            <a:custGeom>
              <a:avLst/>
              <a:gdLst/>
              <a:ahLst/>
              <a:cxnLst/>
              <a:rect r="r" b="b" t="t" l="l"/>
              <a:pathLst>
                <a:path h="120126" w="323319">
                  <a:moveTo>
                    <a:pt x="0" y="0"/>
                  </a:moveTo>
                  <a:lnTo>
                    <a:pt x="323319" y="0"/>
                  </a:lnTo>
                  <a:lnTo>
                    <a:pt x="323319" y="120126"/>
                  </a:lnTo>
                  <a:lnTo>
                    <a:pt x="0" y="120126"/>
                  </a:ln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28575"/>
              <a:ext cx="323319" cy="91551"/>
            </a:xfrm>
            <a:prstGeom prst="rect">
              <a:avLst/>
            </a:prstGeom>
          </p:spPr>
          <p:txBody>
            <a:bodyPr anchor="ctr" rtlCol="false" tIns="50047" lIns="50047" bIns="50047" rIns="50047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4270366" y="2724901"/>
            <a:ext cx="3185200" cy="713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4"/>
              </a:lnSpc>
            </a:pPr>
            <a:r>
              <a:rPr lang="en-US" sz="4124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2: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238397" y="3630531"/>
            <a:ext cx="3789401" cy="1206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4"/>
              </a:lnSpc>
            </a:pPr>
            <a:r>
              <a:rPr lang="en-US" sz="2296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El usuario se registra y se guarda en el “Servidor Correo”.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270907" y="3630531"/>
            <a:ext cx="3789401" cy="1206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4"/>
              </a:lnSpc>
            </a:pPr>
            <a:r>
              <a:rPr lang="en-US" sz="2296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Cuando envía un mensaje, este entra a la lista del servidor.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8373666" y="6099409"/>
            <a:ext cx="1442434" cy="494364"/>
            <a:chOff x="0" y="0"/>
            <a:chExt cx="350499" cy="12012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50499" cy="120126"/>
            </a:xfrm>
            <a:custGeom>
              <a:avLst/>
              <a:gdLst/>
              <a:ahLst/>
              <a:cxnLst/>
              <a:rect r="r" b="b" t="t" l="l"/>
              <a:pathLst>
                <a:path h="120126" w="350499">
                  <a:moveTo>
                    <a:pt x="0" y="0"/>
                  </a:moveTo>
                  <a:lnTo>
                    <a:pt x="350499" y="0"/>
                  </a:lnTo>
                  <a:lnTo>
                    <a:pt x="350499" y="120126"/>
                  </a:lnTo>
                  <a:lnTo>
                    <a:pt x="0" y="120126"/>
                  </a:ln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28575"/>
              <a:ext cx="350499" cy="91551"/>
            </a:xfrm>
            <a:prstGeom prst="rect">
              <a:avLst/>
            </a:prstGeom>
          </p:spPr>
          <p:txBody>
            <a:bodyPr anchor="ctr" rtlCol="false" tIns="50047" lIns="50047" bIns="50047" rIns="50047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9240881" y="5879801"/>
            <a:ext cx="3185200" cy="713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4"/>
              </a:lnSpc>
            </a:pPr>
            <a:r>
              <a:rPr lang="en-US" sz="4124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3: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3403151" y="6099409"/>
            <a:ext cx="1330579" cy="494364"/>
            <a:chOff x="0" y="0"/>
            <a:chExt cx="323319" cy="12012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23319" cy="120126"/>
            </a:xfrm>
            <a:custGeom>
              <a:avLst/>
              <a:gdLst/>
              <a:ahLst/>
              <a:cxnLst/>
              <a:rect r="r" b="b" t="t" l="l"/>
              <a:pathLst>
                <a:path h="120126" w="323319">
                  <a:moveTo>
                    <a:pt x="0" y="0"/>
                  </a:moveTo>
                  <a:lnTo>
                    <a:pt x="323319" y="0"/>
                  </a:lnTo>
                  <a:lnTo>
                    <a:pt x="323319" y="120126"/>
                  </a:lnTo>
                  <a:lnTo>
                    <a:pt x="0" y="120126"/>
                  </a:ln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28575"/>
              <a:ext cx="323319" cy="91551"/>
            </a:xfrm>
            <a:prstGeom prst="rect">
              <a:avLst/>
            </a:prstGeom>
          </p:spPr>
          <p:txBody>
            <a:bodyPr anchor="ctr" rtlCol="false" tIns="50047" lIns="50047" bIns="50047" rIns="50047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4270907" y="5879801"/>
            <a:ext cx="3185200" cy="713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4"/>
              </a:lnSpc>
            </a:pPr>
            <a:r>
              <a:rPr lang="en-US" sz="4124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4: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238397" y="6904016"/>
            <a:ext cx="3789401" cy="1206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4"/>
              </a:lnSpc>
            </a:pPr>
            <a:r>
              <a:rPr lang="en-US" sz="2296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El servidor procesa la lista y entrega los mensajes a los destinatarios.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270366" y="6904016"/>
            <a:ext cx="3789401" cy="1609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4"/>
              </a:lnSpc>
            </a:pPr>
            <a:r>
              <a:rPr lang="en-US" sz="2296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Los usuarios pueden organizar esos correos recibidos en carpetas y subcarpetas.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2782828" y="5846343"/>
            <a:ext cx="3523197" cy="2421397"/>
          </a:xfrm>
          <a:custGeom>
            <a:avLst/>
            <a:gdLst/>
            <a:ahLst/>
            <a:cxnLst/>
            <a:rect r="r" b="b" t="t" l="l"/>
            <a:pathLst>
              <a:path h="2421397" w="3523197">
                <a:moveTo>
                  <a:pt x="0" y="0"/>
                </a:moveTo>
                <a:lnTo>
                  <a:pt x="3523196" y="0"/>
                </a:lnTo>
                <a:lnTo>
                  <a:pt x="3523196" y="2421397"/>
                </a:lnTo>
                <a:lnTo>
                  <a:pt x="0" y="24213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25283" y="-1262009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140649" y="7241479"/>
            <a:ext cx="17956749" cy="16232393"/>
          </a:xfrm>
          <a:custGeom>
            <a:avLst/>
            <a:gdLst/>
            <a:ahLst/>
            <a:cxnLst/>
            <a:rect r="r" b="b" t="t" l="l"/>
            <a:pathLst>
              <a:path h="16232393" w="17956749">
                <a:moveTo>
                  <a:pt x="0" y="0"/>
                </a:moveTo>
                <a:lnTo>
                  <a:pt x="17956749" y="0"/>
                </a:lnTo>
                <a:lnTo>
                  <a:pt x="17956749" y="16232393"/>
                </a:lnTo>
                <a:lnTo>
                  <a:pt x="0" y="162323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178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2087854">
            <a:off x="16022386" y="5923473"/>
            <a:ext cx="1606468" cy="160646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23850" cap="sq">
              <a:gradFill>
                <a:gsLst>
                  <a:gs pos="0">
                    <a:srgbClr val="F5DFF0">
                      <a:alpha val="2950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2380" y="626903"/>
            <a:ext cx="15363240" cy="667852"/>
            <a:chOff x="0" y="0"/>
            <a:chExt cx="20484320" cy="8904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199587"/>
              <a:ext cx="734981" cy="690883"/>
            </a:xfrm>
            <a:custGeom>
              <a:avLst/>
              <a:gdLst/>
              <a:ahLst/>
              <a:cxnLst/>
              <a:rect r="r" b="b" t="t" l="l"/>
              <a:pathLst>
                <a:path h="690883" w="734981">
                  <a:moveTo>
                    <a:pt x="0" y="0"/>
                  </a:moveTo>
                  <a:lnTo>
                    <a:pt x="734981" y="0"/>
                  </a:lnTo>
                  <a:lnTo>
                    <a:pt x="734981" y="690882"/>
                  </a:lnTo>
                  <a:lnTo>
                    <a:pt x="0" y="690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0" id="10"/>
            <p:cNvGrpSpPr/>
            <p:nvPr/>
          </p:nvGrpSpPr>
          <p:grpSpPr>
            <a:xfrm rot="0">
              <a:off x="14945754" y="0"/>
              <a:ext cx="890469" cy="890469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85289" y="111986"/>
                    </a:lnTo>
                    <a:lnTo>
                      <a:pt x="609600" y="54447"/>
                    </a:lnTo>
                    <a:lnTo>
                      <a:pt x="621927" y="190873"/>
                    </a:lnTo>
                    <a:lnTo>
                      <a:pt x="758353" y="203200"/>
                    </a:lnTo>
                    <a:lnTo>
                      <a:pt x="700814" y="327511"/>
                    </a:lnTo>
                    <a:lnTo>
                      <a:pt x="812800" y="406400"/>
                    </a:lnTo>
                    <a:lnTo>
                      <a:pt x="700814" y="485289"/>
                    </a:lnTo>
                    <a:lnTo>
                      <a:pt x="758353" y="609600"/>
                    </a:lnTo>
                    <a:lnTo>
                      <a:pt x="621927" y="621927"/>
                    </a:lnTo>
                    <a:lnTo>
                      <a:pt x="609600" y="758353"/>
                    </a:lnTo>
                    <a:lnTo>
                      <a:pt x="485289" y="700814"/>
                    </a:lnTo>
                    <a:lnTo>
                      <a:pt x="406400" y="812800"/>
                    </a:lnTo>
                    <a:lnTo>
                      <a:pt x="327511" y="700814"/>
                    </a:lnTo>
                    <a:lnTo>
                      <a:pt x="203200" y="758353"/>
                    </a:lnTo>
                    <a:lnTo>
                      <a:pt x="190873" y="621927"/>
                    </a:lnTo>
                    <a:lnTo>
                      <a:pt x="54447" y="609600"/>
                    </a:lnTo>
                    <a:lnTo>
                      <a:pt x="111986" y="485289"/>
                    </a:lnTo>
                    <a:lnTo>
                      <a:pt x="0" y="406400"/>
                    </a:lnTo>
                    <a:lnTo>
                      <a:pt x="111986" y="327511"/>
                    </a:lnTo>
                    <a:lnTo>
                      <a:pt x="54447" y="203200"/>
                    </a:lnTo>
                    <a:lnTo>
                      <a:pt x="190873" y="190873"/>
                    </a:lnTo>
                    <a:lnTo>
                      <a:pt x="203200" y="54447"/>
                    </a:lnTo>
                    <a:lnTo>
                      <a:pt x="327511" y="111986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2F1EB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127000" y="155575"/>
                <a:ext cx="558800" cy="530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1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113494" y="316692"/>
              <a:ext cx="7735832" cy="4852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61"/>
                </a:lnSpc>
                <a:spcBef>
                  <a:spcPct val="0"/>
                </a:spcBef>
              </a:pPr>
              <a:r>
                <a:rPr lang="en-US" sz="2558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María Lara Zobaji, Mauricio Ramirez.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6217223" y="303936"/>
              <a:ext cx="4267096" cy="3982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5"/>
                </a:lnSpc>
                <a:spcBef>
                  <a:spcPct val="0"/>
                </a:spcBef>
              </a:pPr>
              <a:r>
                <a:rPr lang="en-US" b="true" sz="2158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Grupo 29 - Comisión 2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028700" y="1885208"/>
            <a:ext cx="7765838" cy="7834389"/>
          </a:xfrm>
          <a:custGeom>
            <a:avLst/>
            <a:gdLst/>
            <a:ahLst/>
            <a:cxnLst/>
            <a:rect r="r" b="b" t="t" l="l"/>
            <a:pathLst>
              <a:path h="7834389" w="7765838">
                <a:moveTo>
                  <a:pt x="0" y="0"/>
                </a:moveTo>
                <a:lnTo>
                  <a:pt x="7765838" y="0"/>
                </a:lnTo>
                <a:lnTo>
                  <a:pt x="7765838" y="7834389"/>
                </a:lnTo>
                <a:lnTo>
                  <a:pt x="0" y="783438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144000" y="3381703"/>
            <a:ext cx="6692086" cy="107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0"/>
              </a:lnSpc>
              <a:spcBef>
                <a:spcPct val="0"/>
              </a:spcBef>
            </a:pPr>
            <a:r>
              <a:rPr lang="en-US" b="true" sz="7798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Diagrama de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608900" y="3381703"/>
            <a:ext cx="2200014" cy="107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0"/>
              </a:lnSpc>
              <a:spcBef>
                <a:spcPct val="0"/>
              </a:spcBef>
            </a:pPr>
            <a:r>
              <a:rPr lang="en-US" b="true" sz="7798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>flujo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09623" y="4700955"/>
            <a:ext cx="7333785" cy="2108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7"/>
              </a:lnSpc>
            </a:pPr>
            <a:r>
              <a:rPr lang="en-US" sz="3019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En nuestro diagrama de flujo podemos ver como se desenvuelve y reacciona el sistema de acuerdo a las decisiones tomadas por el usuario.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63383" y="-1262009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140649" y="5426888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1105" y="3610958"/>
            <a:ext cx="1299534" cy="568108"/>
            <a:chOff x="0" y="0"/>
            <a:chExt cx="481371" cy="2104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371" cy="210437"/>
            </a:xfrm>
            <a:custGeom>
              <a:avLst/>
              <a:gdLst/>
              <a:ahLst/>
              <a:cxnLst/>
              <a:rect r="r" b="b" t="t" l="l"/>
              <a:pathLst>
                <a:path h="210437" w="481371">
                  <a:moveTo>
                    <a:pt x="0" y="0"/>
                  </a:moveTo>
                  <a:lnTo>
                    <a:pt x="481371" y="0"/>
                  </a:lnTo>
                  <a:lnTo>
                    <a:pt x="481371" y="210437"/>
                  </a:lnTo>
                  <a:lnTo>
                    <a:pt x="0" y="210437"/>
                  </a:ln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481371" cy="1818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2380" y="895930"/>
            <a:ext cx="15363240" cy="667852"/>
            <a:chOff x="0" y="0"/>
            <a:chExt cx="20484320" cy="8904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199587"/>
              <a:ext cx="734981" cy="690883"/>
            </a:xfrm>
            <a:custGeom>
              <a:avLst/>
              <a:gdLst/>
              <a:ahLst/>
              <a:cxnLst/>
              <a:rect r="r" b="b" t="t" l="l"/>
              <a:pathLst>
                <a:path h="690883" w="734981">
                  <a:moveTo>
                    <a:pt x="0" y="0"/>
                  </a:moveTo>
                  <a:lnTo>
                    <a:pt x="734981" y="0"/>
                  </a:lnTo>
                  <a:lnTo>
                    <a:pt x="734981" y="690882"/>
                  </a:lnTo>
                  <a:lnTo>
                    <a:pt x="0" y="690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0" id="10"/>
            <p:cNvGrpSpPr/>
            <p:nvPr/>
          </p:nvGrpSpPr>
          <p:grpSpPr>
            <a:xfrm rot="0">
              <a:off x="14945754" y="0"/>
              <a:ext cx="890469" cy="890469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85289" y="111986"/>
                    </a:lnTo>
                    <a:lnTo>
                      <a:pt x="609600" y="54447"/>
                    </a:lnTo>
                    <a:lnTo>
                      <a:pt x="621927" y="190873"/>
                    </a:lnTo>
                    <a:lnTo>
                      <a:pt x="758353" y="203200"/>
                    </a:lnTo>
                    <a:lnTo>
                      <a:pt x="700814" y="327511"/>
                    </a:lnTo>
                    <a:lnTo>
                      <a:pt x="812800" y="406400"/>
                    </a:lnTo>
                    <a:lnTo>
                      <a:pt x="700814" y="485289"/>
                    </a:lnTo>
                    <a:lnTo>
                      <a:pt x="758353" y="609600"/>
                    </a:lnTo>
                    <a:lnTo>
                      <a:pt x="621927" y="621927"/>
                    </a:lnTo>
                    <a:lnTo>
                      <a:pt x="609600" y="758353"/>
                    </a:lnTo>
                    <a:lnTo>
                      <a:pt x="485289" y="700814"/>
                    </a:lnTo>
                    <a:lnTo>
                      <a:pt x="406400" y="812800"/>
                    </a:lnTo>
                    <a:lnTo>
                      <a:pt x="327511" y="700814"/>
                    </a:lnTo>
                    <a:lnTo>
                      <a:pt x="203200" y="758353"/>
                    </a:lnTo>
                    <a:lnTo>
                      <a:pt x="190873" y="621927"/>
                    </a:lnTo>
                    <a:lnTo>
                      <a:pt x="54447" y="609600"/>
                    </a:lnTo>
                    <a:lnTo>
                      <a:pt x="111986" y="485289"/>
                    </a:lnTo>
                    <a:lnTo>
                      <a:pt x="0" y="406400"/>
                    </a:lnTo>
                    <a:lnTo>
                      <a:pt x="111986" y="327511"/>
                    </a:lnTo>
                    <a:lnTo>
                      <a:pt x="54447" y="203200"/>
                    </a:lnTo>
                    <a:lnTo>
                      <a:pt x="190873" y="190873"/>
                    </a:lnTo>
                    <a:lnTo>
                      <a:pt x="203200" y="54447"/>
                    </a:lnTo>
                    <a:lnTo>
                      <a:pt x="327511" y="111986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2F1EB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127000" y="155575"/>
                <a:ext cx="558800" cy="530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1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113494" y="316692"/>
              <a:ext cx="7735832" cy="4852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61"/>
                </a:lnSpc>
                <a:spcBef>
                  <a:spcPct val="0"/>
                </a:spcBef>
              </a:pPr>
              <a:r>
                <a:rPr lang="en-US" sz="2558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María Lara Zobaji, Mauricio Ramirez.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6217223" y="303936"/>
              <a:ext cx="4267096" cy="3982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5"/>
                </a:lnSpc>
                <a:spcBef>
                  <a:spcPct val="0"/>
                </a:spcBef>
              </a:pPr>
              <a:r>
                <a:rPr lang="en-US" b="true" sz="2158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Grupo 29 - Comisión 2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9337208" y="2404860"/>
            <a:ext cx="1192543" cy="954034"/>
          </a:xfrm>
          <a:custGeom>
            <a:avLst/>
            <a:gdLst/>
            <a:ahLst/>
            <a:cxnLst/>
            <a:rect r="r" b="b" t="t" l="l"/>
            <a:pathLst>
              <a:path h="954034" w="1192543">
                <a:moveTo>
                  <a:pt x="0" y="0"/>
                </a:moveTo>
                <a:lnTo>
                  <a:pt x="1192543" y="0"/>
                </a:lnTo>
                <a:lnTo>
                  <a:pt x="1192543" y="954035"/>
                </a:lnTo>
                <a:lnTo>
                  <a:pt x="0" y="95403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053754" y="2559974"/>
            <a:ext cx="998651" cy="798920"/>
          </a:xfrm>
          <a:custGeom>
            <a:avLst/>
            <a:gdLst/>
            <a:ahLst/>
            <a:cxnLst/>
            <a:rect r="r" b="b" t="t" l="l"/>
            <a:pathLst>
              <a:path h="798920" w="998651">
                <a:moveTo>
                  <a:pt x="0" y="0"/>
                </a:moveTo>
                <a:lnTo>
                  <a:pt x="998651" y="0"/>
                </a:lnTo>
                <a:lnTo>
                  <a:pt x="998651" y="798921"/>
                </a:lnTo>
                <a:lnTo>
                  <a:pt x="0" y="79892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122593" y="2559974"/>
            <a:ext cx="998651" cy="798920"/>
          </a:xfrm>
          <a:custGeom>
            <a:avLst/>
            <a:gdLst/>
            <a:ahLst/>
            <a:cxnLst/>
            <a:rect r="r" b="b" t="t" l="l"/>
            <a:pathLst>
              <a:path h="798920" w="998651">
                <a:moveTo>
                  <a:pt x="0" y="0"/>
                </a:moveTo>
                <a:lnTo>
                  <a:pt x="998650" y="0"/>
                </a:lnTo>
                <a:lnTo>
                  <a:pt x="998650" y="798921"/>
                </a:lnTo>
                <a:lnTo>
                  <a:pt x="0" y="79892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337208" y="4685676"/>
            <a:ext cx="1192543" cy="954034"/>
          </a:xfrm>
          <a:custGeom>
            <a:avLst/>
            <a:gdLst/>
            <a:ahLst/>
            <a:cxnLst/>
            <a:rect r="r" b="b" t="t" l="l"/>
            <a:pathLst>
              <a:path h="954034" w="1192543">
                <a:moveTo>
                  <a:pt x="0" y="0"/>
                </a:moveTo>
                <a:lnTo>
                  <a:pt x="1192543" y="0"/>
                </a:lnTo>
                <a:lnTo>
                  <a:pt x="1192543" y="954035"/>
                </a:lnTo>
                <a:lnTo>
                  <a:pt x="0" y="95403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434154" y="6902025"/>
            <a:ext cx="998651" cy="798920"/>
          </a:xfrm>
          <a:custGeom>
            <a:avLst/>
            <a:gdLst/>
            <a:ahLst/>
            <a:cxnLst/>
            <a:rect r="r" b="b" t="t" l="l"/>
            <a:pathLst>
              <a:path h="798920" w="998651">
                <a:moveTo>
                  <a:pt x="0" y="0"/>
                </a:moveTo>
                <a:lnTo>
                  <a:pt x="998651" y="0"/>
                </a:lnTo>
                <a:lnTo>
                  <a:pt x="998651" y="798921"/>
                </a:lnTo>
                <a:lnTo>
                  <a:pt x="0" y="79892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434154" y="8616834"/>
            <a:ext cx="998651" cy="798920"/>
          </a:xfrm>
          <a:custGeom>
            <a:avLst/>
            <a:gdLst/>
            <a:ahLst/>
            <a:cxnLst/>
            <a:rect r="r" b="b" t="t" l="l"/>
            <a:pathLst>
              <a:path h="798920" w="998651">
                <a:moveTo>
                  <a:pt x="0" y="0"/>
                </a:moveTo>
                <a:lnTo>
                  <a:pt x="998651" y="0"/>
                </a:lnTo>
                <a:lnTo>
                  <a:pt x="998651" y="798920"/>
                </a:lnTo>
                <a:lnTo>
                  <a:pt x="0" y="79892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956808" y="5084711"/>
            <a:ext cx="1192543" cy="954034"/>
          </a:xfrm>
          <a:custGeom>
            <a:avLst/>
            <a:gdLst/>
            <a:ahLst/>
            <a:cxnLst/>
            <a:rect r="r" b="b" t="t" l="l"/>
            <a:pathLst>
              <a:path h="954034" w="1192543">
                <a:moveTo>
                  <a:pt x="0" y="0"/>
                </a:moveTo>
                <a:lnTo>
                  <a:pt x="1192543" y="0"/>
                </a:lnTo>
                <a:lnTo>
                  <a:pt x="1192543" y="954034"/>
                </a:lnTo>
                <a:lnTo>
                  <a:pt x="0" y="95403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053754" y="7439862"/>
            <a:ext cx="998651" cy="798920"/>
          </a:xfrm>
          <a:custGeom>
            <a:avLst/>
            <a:gdLst/>
            <a:ahLst/>
            <a:cxnLst/>
            <a:rect r="r" b="b" t="t" l="l"/>
            <a:pathLst>
              <a:path h="798920" w="998651">
                <a:moveTo>
                  <a:pt x="0" y="0"/>
                </a:moveTo>
                <a:lnTo>
                  <a:pt x="998651" y="0"/>
                </a:lnTo>
                <a:lnTo>
                  <a:pt x="998651" y="798920"/>
                </a:lnTo>
                <a:lnTo>
                  <a:pt x="0" y="79892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3" id="23"/>
          <p:cNvSpPr/>
          <p:nvPr/>
        </p:nvSpPr>
        <p:spPr>
          <a:xfrm>
            <a:off x="10901506" y="3099597"/>
            <a:ext cx="780492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4" id="24"/>
          <p:cNvSpPr/>
          <p:nvPr/>
        </p:nvSpPr>
        <p:spPr>
          <a:xfrm>
            <a:off x="13197253" y="3081379"/>
            <a:ext cx="780492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5" id="25"/>
          <p:cNvSpPr/>
          <p:nvPr/>
        </p:nvSpPr>
        <p:spPr>
          <a:xfrm flipV="true">
            <a:off x="10544159" y="5850084"/>
            <a:ext cx="1266276" cy="1524753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6" id="26"/>
          <p:cNvSpPr/>
          <p:nvPr/>
        </p:nvSpPr>
        <p:spPr>
          <a:xfrm>
            <a:off x="12564712" y="6773652"/>
            <a:ext cx="0" cy="52398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7" id="27"/>
          <p:cNvSpPr/>
          <p:nvPr/>
        </p:nvSpPr>
        <p:spPr>
          <a:xfrm>
            <a:off x="9933480" y="4064772"/>
            <a:ext cx="0" cy="52398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8" id="28"/>
          <p:cNvSpPr/>
          <p:nvPr/>
        </p:nvSpPr>
        <p:spPr>
          <a:xfrm>
            <a:off x="9951698" y="6250516"/>
            <a:ext cx="0" cy="52398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9" id="29"/>
          <p:cNvSpPr/>
          <p:nvPr/>
        </p:nvSpPr>
        <p:spPr>
          <a:xfrm flipH="true">
            <a:off x="9933480" y="8163337"/>
            <a:ext cx="0" cy="405379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0" id="30"/>
          <p:cNvGrpSpPr/>
          <p:nvPr/>
        </p:nvGrpSpPr>
        <p:grpSpPr>
          <a:xfrm rot="0">
            <a:off x="8273050" y="1753802"/>
            <a:ext cx="7631593" cy="8182275"/>
            <a:chOff x="0" y="0"/>
            <a:chExt cx="2009967" cy="215500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009967" cy="2155002"/>
            </a:xfrm>
            <a:custGeom>
              <a:avLst/>
              <a:gdLst/>
              <a:ahLst/>
              <a:cxnLst/>
              <a:rect r="r" b="b" t="t" l="l"/>
              <a:pathLst>
                <a:path h="2155002" w="2009967">
                  <a:moveTo>
                    <a:pt x="0" y="0"/>
                  </a:moveTo>
                  <a:lnTo>
                    <a:pt x="2009967" y="0"/>
                  </a:lnTo>
                  <a:lnTo>
                    <a:pt x="2009967" y="2155002"/>
                  </a:lnTo>
                  <a:lnTo>
                    <a:pt x="0" y="2155002"/>
                  </a:ln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24000"/>
                  </a:srgbClr>
                </a:gs>
                <a:gs pos="100000">
                  <a:srgbClr val="DDBAFF">
                    <a:alpha val="2880"/>
                  </a:srgbClr>
                </a:gs>
              </a:gsLst>
              <a:lin ang="0"/>
            </a:gra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28575"/>
              <a:ext cx="2009967" cy="21264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993987" y="3768651"/>
            <a:ext cx="5520710" cy="741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8"/>
              </a:lnSpc>
              <a:spcBef>
                <a:spcPct val="0"/>
              </a:spcBef>
            </a:pPr>
            <a:r>
              <a:rPr lang="en-US" b="true" sz="5315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Estructura del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93987" y="4411039"/>
            <a:ext cx="6698038" cy="741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8"/>
              </a:lnSpc>
              <a:spcBef>
                <a:spcPct val="0"/>
              </a:spcBef>
            </a:pPr>
            <a:r>
              <a:rPr lang="en-US" b="true" sz="5315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>Arbol de Carpetas: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446532" y="3458001"/>
            <a:ext cx="973896" cy="479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4"/>
              </a:lnSpc>
              <a:spcBef>
                <a:spcPct val="0"/>
              </a:spcBef>
            </a:pPr>
            <a:r>
              <a:rPr lang="en-US" sz="17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Raíz del Usuario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451951" y="1957437"/>
            <a:ext cx="2963057" cy="316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8"/>
              </a:lnSpc>
              <a:spcBef>
                <a:spcPct val="0"/>
              </a:spcBef>
            </a:pPr>
            <a:r>
              <a:rPr lang="en-US" b="true" sz="2286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Carpeta Principal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808496" y="3534404"/>
            <a:ext cx="1489167" cy="21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4"/>
              </a:lnSpc>
              <a:spcBef>
                <a:spcPct val="0"/>
              </a:spcBef>
            </a:pPr>
            <a:r>
              <a:rPr lang="en-US" sz="1485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Archivados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877335" y="3534404"/>
            <a:ext cx="1489167" cy="21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4"/>
              </a:lnSpc>
              <a:spcBef>
                <a:spcPct val="0"/>
              </a:spcBef>
            </a:pPr>
            <a:r>
              <a:rPr lang="en-US" sz="1485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Spam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84290" y="5440697"/>
            <a:ext cx="5917432" cy="1117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5"/>
              </a:lnSpc>
            </a:pPr>
            <a:r>
              <a:rPr lang="en-US" sz="2118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En este proyecto nosotros estamos utilizando una estructura de Árbol para las decisiones del usuario y las interacciones del software con él.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336554" y="5741753"/>
            <a:ext cx="1193851" cy="479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4"/>
              </a:lnSpc>
              <a:spcBef>
                <a:spcPct val="0"/>
              </a:spcBef>
            </a:pPr>
            <a:r>
              <a:rPr lang="en-US" sz="17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Bandeja de entrada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188896" y="7876455"/>
            <a:ext cx="1489167" cy="21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4"/>
              </a:lnSpc>
              <a:spcBef>
                <a:spcPct val="0"/>
              </a:spcBef>
            </a:pPr>
            <a:r>
              <a:rPr lang="en-US" sz="1485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Urgente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838642" y="9589246"/>
            <a:ext cx="2226112" cy="21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4"/>
              </a:lnSpc>
              <a:spcBef>
                <a:spcPct val="0"/>
              </a:spcBef>
            </a:pPr>
            <a:r>
              <a:rPr lang="en-US" sz="1485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Estudios (Personalizado)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956154" y="6140787"/>
            <a:ext cx="1193851" cy="479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4"/>
              </a:lnSpc>
              <a:spcBef>
                <a:spcPct val="0"/>
              </a:spcBef>
            </a:pPr>
            <a:r>
              <a:rPr lang="en-US" sz="17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Bandeja de salida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808496" y="8414292"/>
            <a:ext cx="1489167" cy="21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4"/>
              </a:lnSpc>
              <a:spcBef>
                <a:spcPct val="0"/>
              </a:spcBef>
            </a:pPr>
            <a:r>
              <a:rPr lang="en-US" sz="1485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Borradores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25283" y="-1262009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140649" y="7241479"/>
            <a:ext cx="17956749" cy="16232393"/>
          </a:xfrm>
          <a:custGeom>
            <a:avLst/>
            <a:gdLst/>
            <a:ahLst/>
            <a:cxnLst/>
            <a:rect r="r" b="b" t="t" l="l"/>
            <a:pathLst>
              <a:path h="16232393" w="17956749">
                <a:moveTo>
                  <a:pt x="0" y="0"/>
                </a:moveTo>
                <a:lnTo>
                  <a:pt x="17956749" y="0"/>
                </a:lnTo>
                <a:lnTo>
                  <a:pt x="17956749" y="16232393"/>
                </a:lnTo>
                <a:lnTo>
                  <a:pt x="0" y="162323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178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62380" y="626903"/>
            <a:ext cx="15363240" cy="667852"/>
            <a:chOff x="0" y="0"/>
            <a:chExt cx="20484320" cy="8904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199587"/>
              <a:ext cx="734981" cy="690883"/>
            </a:xfrm>
            <a:custGeom>
              <a:avLst/>
              <a:gdLst/>
              <a:ahLst/>
              <a:cxnLst/>
              <a:rect r="r" b="b" t="t" l="l"/>
              <a:pathLst>
                <a:path h="690883" w="734981">
                  <a:moveTo>
                    <a:pt x="0" y="0"/>
                  </a:moveTo>
                  <a:lnTo>
                    <a:pt x="734981" y="0"/>
                  </a:lnTo>
                  <a:lnTo>
                    <a:pt x="734981" y="690882"/>
                  </a:lnTo>
                  <a:lnTo>
                    <a:pt x="0" y="690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14945754" y="0"/>
              <a:ext cx="890469" cy="890469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85289" y="111986"/>
                    </a:lnTo>
                    <a:lnTo>
                      <a:pt x="609600" y="54447"/>
                    </a:lnTo>
                    <a:lnTo>
                      <a:pt x="621927" y="190873"/>
                    </a:lnTo>
                    <a:lnTo>
                      <a:pt x="758353" y="203200"/>
                    </a:lnTo>
                    <a:lnTo>
                      <a:pt x="700814" y="327511"/>
                    </a:lnTo>
                    <a:lnTo>
                      <a:pt x="812800" y="406400"/>
                    </a:lnTo>
                    <a:lnTo>
                      <a:pt x="700814" y="485289"/>
                    </a:lnTo>
                    <a:lnTo>
                      <a:pt x="758353" y="609600"/>
                    </a:lnTo>
                    <a:lnTo>
                      <a:pt x="621927" y="621927"/>
                    </a:lnTo>
                    <a:lnTo>
                      <a:pt x="609600" y="758353"/>
                    </a:lnTo>
                    <a:lnTo>
                      <a:pt x="485289" y="700814"/>
                    </a:lnTo>
                    <a:lnTo>
                      <a:pt x="406400" y="812800"/>
                    </a:lnTo>
                    <a:lnTo>
                      <a:pt x="327511" y="700814"/>
                    </a:lnTo>
                    <a:lnTo>
                      <a:pt x="203200" y="758353"/>
                    </a:lnTo>
                    <a:lnTo>
                      <a:pt x="190873" y="621927"/>
                    </a:lnTo>
                    <a:lnTo>
                      <a:pt x="54447" y="609600"/>
                    </a:lnTo>
                    <a:lnTo>
                      <a:pt x="111986" y="485289"/>
                    </a:lnTo>
                    <a:lnTo>
                      <a:pt x="0" y="406400"/>
                    </a:lnTo>
                    <a:lnTo>
                      <a:pt x="111986" y="327511"/>
                    </a:lnTo>
                    <a:lnTo>
                      <a:pt x="54447" y="203200"/>
                    </a:lnTo>
                    <a:lnTo>
                      <a:pt x="190873" y="190873"/>
                    </a:lnTo>
                    <a:lnTo>
                      <a:pt x="203200" y="54447"/>
                    </a:lnTo>
                    <a:lnTo>
                      <a:pt x="327511" y="111986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2F1EB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127000" y="155575"/>
                <a:ext cx="558800" cy="530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1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1113494" y="316692"/>
              <a:ext cx="7735832" cy="4852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61"/>
                </a:lnSpc>
                <a:spcBef>
                  <a:spcPct val="0"/>
                </a:spcBef>
              </a:pPr>
              <a:r>
                <a:rPr lang="en-US" sz="2558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María Lara Zobaji, Mauricio Ramirez.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6217223" y="303936"/>
              <a:ext cx="4267096" cy="3982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5"/>
                </a:lnSpc>
                <a:spcBef>
                  <a:spcPct val="0"/>
                </a:spcBef>
              </a:pPr>
              <a:r>
                <a:rPr lang="en-US" b="true" sz="2158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Grupo 29 - Comisión 2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635272" y="2898913"/>
            <a:ext cx="15017456" cy="6100842"/>
          </a:xfrm>
          <a:custGeom>
            <a:avLst/>
            <a:gdLst/>
            <a:ahLst/>
            <a:cxnLst/>
            <a:rect r="r" b="b" t="t" l="l"/>
            <a:pathLst>
              <a:path h="6100842" w="15017456">
                <a:moveTo>
                  <a:pt x="0" y="0"/>
                </a:moveTo>
                <a:lnTo>
                  <a:pt x="15017456" y="0"/>
                </a:lnTo>
                <a:lnTo>
                  <a:pt x="15017456" y="6100842"/>
                </a:lnTo>
                <a:lnTo>
                  <a:pt x="0" y="610084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070045" y="1618006"/>
            <a:ext cx="7884634" cy="107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0"/>
              </a:lnSpc>
              <a:spcBef>
                <a:spcPct val="0"/>
              </a:spcBef>
            </a:pPr>
            <a:r>
              <a:rPr lang="en-US" b="true" sz="7798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Diagrama del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856863" y="1618006"/>
            <a:ext cx="7361092" cy="107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0"/>
              </a:lnSpc>
              <a:spcBef>
                <a:spcPct val="0"/>
              </a:spcBef>
            </a:pPr>
            <a:r>
              <a:rPr lang="en-US" b="true" sz="7798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>Arbol Carpetas</a:t>
            </a:r>
          </a:p>
        </p:txBody>
      </p:sp>
      <p:grpSp>
        <p:nvGrpSpPr>
          <p:cNvPr name="Group 15" id="15"/>
          <p:cNvGrpSpPr/>
          <p:nvPr/>
        </p:nvGrpSpPr>
        <p:grpSpPr>
          <a:xfrm rot="2087854">
            <a:off x="15860896" y="2811070"/>
            <a:ext cx="1699178" cy="1699178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23850" cap="sq">
              <a:gradFill>
                <a:gsLst>
                  <a:gs pos="0">
                    <a:srgbClr val="F5DFF0">
                      <a:alpha val="2950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83202" y="-1263914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50" y="0"/>
                </a:lnTo>
                <a:lnTo>
                  <a:pt x="17956750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05706" y="5248807"/>
            <a:ext cx="535305" cy="535305"/>
            <a:chOff x="0" y="0"/>
            <a:chExt cx="120126" cy="1201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0126" cy="120126"/>
            </a:xfrm>
            <a:custGeom>
              <a:avLst/>
              <a:gdLst/>
              <a:ahLst/>
              <a:cxnLst/>
              <a:rect r="r" b="b" t="t" l="l"/>
              <a:pathLst>
                <a:path h="120126" w="120126">
                  <a:moveTo>
                    <a:pt x="0" y="0"/>
                  </a:moveTo>
                  <a:lnTo>
                    <a:pt x="120126" y="0"/>
                  </a:lnTo>
                  <a:lnTo>
                    <a:pt x="120126" y="120126"/>
                  </a:lnTo>
                  <a:lnTo>
                    <a:pt x="0" y="120126"/>
                  </a:ln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120126" cy="91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62380" y="895930"/>
            <a:ext cx="15363240" cy="667852"/>
            <a:chOff x="0" y="0"/>
            <a:chExt cx="20484320" cy="89046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199587"/>
              <a:ext cx="734981" cy="690883"/>
            </a:xfrm>
            <a:custGeom>
              <a:avLst/>
              <a:gdLst/>
              <a:ahLst/>
              <a:cxnLst/>
              <a:rect r="r" b="b" t="t" l="l"/>
              <a:pathLst>
                <a:path h="690883" w="734981">
                  <a:moveTo>
                    <a:pt x="0" y="0"/>
                  </a:moveTo>
                  <a:lnTo>
                    <a:pt x="734981" y="0"/>
                  </a:lnTo>
                  <a:lnTo>
                    <a:pt x="734981" y="690882"/>
                  </a:lnTo>
                  <a:lnTo>
                    <a:pt x="0" y="690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9" id="9"/>
            <p:cNvGrpSpPr/>
            <p:nvPr/>
          </p:nvGrpSpPr>
          <p:grpSpPr>
            <a:xfrm rot="0">
              <a:off x="14945754" y="0"/>
              <a:ext cx="890469" cy="890469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85289" y="111986"/>
                    </a:lnTo>
                    <a:lnTo>
                      <a:pt x="609600" y="54447"/>
                    </a:lnTo>
                    <a:lnTo>
                      <a:pt x="621927" y="190873"/>
                    </a:lnTo>
                    <a:lnTo>
                      <a:pt x="758353" y="203200"/>
                    </a:lnTo>
                    <a:lnTo>
                      <a:pt x="700814" y="327511"/>
                    </a:lnTo>
                    <a:lnTo>
                      <a:pt x="812800" y="406400"/>
                    </a:lnTo>
                    <a:lnTo>
                      <a:pt x="700814" y="485289"/>
                    </a:lnTo>
                    <a:lnTo>
                      <a:pt x="758353" y="609600"/>
                    </a:lnTo>
                    <a:lnTo>
                      <a:pt x="621927" y="621927"/>
                    </a:lnTo>
                    <a:lnTo>
                      <a:pt x="609600" y="758353"/>
                    </a:lnTo>
                    <a:lnTo>
                      <a:pt x="485289" y="700814"/>
                    </a:lnTo>
                    <a:lnTo>
                      <a:pt x="406400" y="812800"/>
                    </a:lnTo>
                    <a:lnTo>
                      <a:pt x="327511" y="700814"/>
                    </a:lnTo>
                    <a:lnTo>
                      <a:pt x="203200" y="758353"/>
                    </a:lnTo>
                    <a:lnTo>
                      <a:pt x="190873" y="621927"/>
                    </a:lnTo>
                    <a:lnTo>
                      <a:pt x="54447" y="609600"/>
                    </a:lnTo>
                    <a:lnTo>
                      <a:pt x="111986" y="485289"/>
                    </a:lnTo>
                    <a:lnTo>
                      <a:pt x="0" y="406400"/>
                    </a:lnTo>
                    <a:lnTo>
                      <a:pt x="111986" y="327511"/>
                    </a:lnTo>
                    <a:lnTo>
                      <a:pt x="54447" y="203200"/>
                    </a:lnTo>
                    <a:lnTo>
                      <a:pt x="190873" y="190873"/>
                    </a:lnTo>
                    <a:lnTo>
                      <a:pt x="203200" y="54447"/>
                    </a:lnTo>
                    <a:lnTo>
                      <a:pt x="327511" y="111986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2F1E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127000" y="155575"/>
                <a:ext cx="558800" cy="530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1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113494" y="316692"/>
              <a:ext cx="7735832" cy="4852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61"/>
                </a:lnSpc>
                <a:spcBef>
                  <a:spcPct val="0"/>
                </a:spcBef>
              </a:pPr>
              <a:r>
                <a:rPr lang="en-US" sz="2558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María Lara Zobaji, Mauricio Ramirez.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6217223" y="303936"/>
              <a:ext cx="4267096" cy="3982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5"/>
                </a:lnSpc>
                <a:spcBef>
                  <a:spcPct val="0"/>
                </a:spcBef>
              </a:pPr>
              <a:r>
                <a:rPr lang="en-US" b="true" sz="2158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Grupo 29 - Comisión 2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1384168" y="4014488"/>
            <a:ext cx="6141123" cy="4127099"/>
          </a:xfrm>
          <a:custGeom>
            <a:avLst/>
            <a:gdLst/>
            <a:ahLst/>
            <a:cxnLst/>
            <a:rect r="r" b="b" t="t" l="l"/>
            <a:pathLst>
              <a:path h="4127099" w="6141123">
                <a:moveTo>
                  <a:pt x="0" y="0"/>
                </a:moveTo>
                <a:lnTo>
                  <a:pt x="6141122" y="0"/>
                </a:lnTo>
                <a:lnTo>
                  <a:pt x="6141122" y="4127099"/>
                </a:lnTo>
                <a:lnTo>
                  <a:pt x="0" y="41270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24355" y="2817332"/>
            <a:ext cx="4941667" cy="437650"/>
            <a:chOff x="0" y="0"/>
            <a:chExt cx="1650234" cy="1461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50234" cy="146150"/>
            </a:xfrm>
            <a:custGeom>
              <a:avLst/>
              <a:gdLst/>
              <a:ahLst/>
              <a:cxnLst/>
              <a:rect r="r" b="b" t="t" l="l"/>
              <a:pathLst>
                <a:path h="146150" w="1650234">
                  <a:moveTo>
                    <a:pt x="0" y="0"/>
                  </a:moveTo>
                  <a:lnTo>
                    <a:pt x="1650234" y="0"/>
                  </a:lnTo>
                  <a:lnTo>
                    <a:pt x="1650234" y="146150"/>
                  </a:lnTo>
                  <a:lnTo>
                    <a:pt x="0" y="146150"/>
                  </a:ln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28575"/>
              <a:ext cx="1650234" cy="117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82597" y="2307337"/>
            <a:ext cx="5099075" cy="94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9"/>
              </a:lnSpc>
              <a:spcBef>
                <a:spcPct val="0"/>
              </a:spcBef>
            </a:pPr>
            <a:r>
              <a:rPr lang="en-US" b="true" sz="6855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Utilización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281976" y="2307337"/>
            <a:ext cx="5354634" cy="94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9"/>
              </a:lnSpc>
              <a:spcBef>
                <a:spcPct val="0"/>
              </a:spcBef>
            </a:pPr>
            <a:r>
              <a:rPr lang="en-US" b="true" sz="6855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>de Grafos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510592" y="5163082"/>
            <a:ext cx="4455093" cy="583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9"/>
              </a:lnSpc>
            </a:pPr>
            <a:r>
              <a:rPr lang="en-US" sz="3292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¿Cómo lo usamos?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66207" y="6011362"/>
            <a:ext cx="8953431" cy="2447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3670" indent="-301835" lvl="1">
              <a:lnSpc>
                <a:spcPts val="3914"/>
              </a:lnSpc>
              <a:buFont typeface="Arial"/>
              <a:buChar char="•"/>
            </a:pPr>
            <a:r>
              <a:rPr lang="en-US" sz="2796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En el proyecto, la clase RedServidores modela la red de servidores como un grafo no dirigido.</a:t>
            </a:r>
          </a:p>
          <a:p>
            <a:pPr algn="l" marL="603670" indent="-301835" lvl="1">
              <a:lnSpc>
                <a:spcPts val="3914"/>
              </a:lnSpc>
              <a:buFont typeface="Arial"/>
              <a:buChar char="•"/>
            </a:pPr>
            <a:r>
              <a:rPr lang="en-US" sz="2796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Implementamos</a:t>
            </a:r>
            <a:r>
              <a:rPr lang="en-US" sz="2796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 los algoritmos:</a:t>
            </a:r>
          </a:p>
          <a:p>
            <a:pPr algn="l" marL="1207341" indent="-402447" lvl="2">
              <a:lnSpc>
                <a:spcPts val="3914"/>
              </a:lnSpc>
              <a:buFont typeface="Arial"/>
              <a:buChar char="⚬"/>
            </a:pPr>
            <a:r>
              <a:rPr lang="en-US" sz="2796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BFS </a:t>
            </a:r>
          </a:p>
          <a:p>
            <a:pPr algn="l" marL="1207341" indent="-402447" lvl="2">
              <a:lnSpc>
                <a:spcPts val="3914"/>
              </a:lnSpc>
              <a:buFont typeface="Arial"/>
              <a:buChar char="⚬"/>
            </a:pPr>
            <a:r>
              <a:rPr lang="en-US" sz="2796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DFS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66207" y="3644708"/>
            <a:ext cx="9228551" cy="1049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0"/>
              </a:lnSpc>
            </a:pPr>
            <a:r>
              <a:rPr lang="en-US" sz="3021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Un grafo es una estructura de datos compuesta por nodos (vértices) y conexiones (aristas).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25283" y="-1262009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140649" y="7241479"/>
            <a:ext cx="17956749" cy="16232393"/>
          </a:xfrm>
          <a:custGeom>
            <a:avLst/>
            <a:gdLst/>
            <a:ahLst/>
            <a:cxnLst/>
            <a:rect r="r" b="b" t="t" l="l"/>
            <a:pathLst>
              <a:path h="16232393" w="17956749">
                <a:moveTo>
                  <a:pt x="0" y="0"/>
                </a:moveTo>
                <a:lnTo>
                  <a:pt x="17956749" y="0"/>
                </a:lnTo>
                <a:lnTo>
                  <a:pt x="17956749" y="16232393"/>
                </a:lnTo>
                <a:lnTo>
                  <a:pt x="0" y="162323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178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62380" y="626903"/>
            <a:ext cx="15363240" cy="667852"/>
            <a:chOff x="0" y="0"/>
            <a:chExt cx="20484320" cy="8904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199587"/>
              <a:ext cx="734981" cy="690883"/>
            </a:xfrm>
            <a:custGeom>
              <a:avLst/>
              <a:gdLst/>
              <a:ahLst/>
              <a:cxnLst/>
              <a:rect r="r" b="b" t="t" l="l"/>
              <a:pathLst>
                <a:path h="690883" w="734981">
                  <a:moveTo>
                    <a:pt x="0" y="0"/>
                  </a:moveTo>
                  <a:lnTo>
                    <a:pt x="734981" y="0"/>
                  </a:lnTo>
                  <a:lnTo>
                    <a:pt x="734981" y="690882"/>
                  </a:lnTo>
                  <a:lnTo>
                    <a:pt x="0" y="690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14945754" y="0"/>
              <a:ext cx="890469" cy="890469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85289" y="111986"/>
                    </a:lnTo>
                    <a:lnTo>
                      <a:pt x="609600" y="54447"/>
                    </a:lnTo>
                    <a:lnTo>
                      <a:pt x="621927" y="190873"/>
                    </a:lnTo>
                    <a:lnTo>
                      <a:pt x="758353" y="203200"/>
                    </a:lnTo>
                    <a:lnTo>
                      <a:pt x="700814" y="327511"/>
                    </a:lnTo>
                    <a:lnTo>
                      <a:pt x="812800" y="406400"/>
                    </a:lnTo>
                    <a:lnTo>
                      <a:pt x="700814" y="485289"/>
                    </a:lnTo>
                    <a:lnTo>
                      <a:pt x="758353" y="609600"/>
                    </a:lnTo>
                    <a:lnTo>
                      <a:pt x="621927" y="621927"/>
                    </a:lnTo>
                    <a:lnTo>
                      <a:pt x="609600" y="758353"/>
                    </a:lnTo>
                    <a:lnTo>
                      <a:pt x="485289" y="700814"/>
                    </a:lnTo>
                    <a:lnTo>
                      <a:pt x="406400" y="812800"/>
                    </a:lnTo>
                    <a:lnTo>
                      <a:pt x="327511" y="700814"/>
                    </a:lnTo>
                    <a:lnTo>
                      <a:pt x="203200" y="758353"/>
                    </a:lnTo>
                    <a:lnTo>
                      <a:pt x="190873" y="621927"/>
                    </a:lnTo>
                    <a:lnTo>
                      <a:pt x="54447" y="609600"/>
                    </a:lnTo>
                    <a:lnTo>
                      <a:pt x="111986" y="485289"/>
                    </a:lnTo>
                    <a:lnTo>
                      <a:pt x="0" y="406400"/>
                    </a:lnTo>
                    <a:lnTo>
                      <a:pt x="111986" y="327511"/>
                    </a:lnTo>
                    <a:lnTo>
                      <a:pt x="54447" y="203200"/>
                    </a:lnTo>
                    <a:lnTo>
                      <a:pt x="190873" y="190873"/>
                    </a:lnTo>
                    <a:lnTo>
                      <a:pt x="203200" y="54447"/>
                    </a:lnTo>
                    <a:lnTo>
                      <a:pt x="327511" y="111986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2F1EB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127000" y="155575"/>
                <a:ext cx="558800" cy="530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1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1113494" y="316692"/>
              <a:ext cx="7735832" cy="4852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61"/>
                </a:lnSpc>
                <a:spcBef>
                  <a:spcPct val="0"/>
                </a:spcBef>
              </a:pPr>
              <a:r>
                <a:rPr lang="en-US" sz="2558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María Lara Zobaji, Mauricio Ramirez.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6217223" y="303936"/>
              <a:ext cx="4267096" cy="3982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5"/>
                </a:lnSpc>
                <a:spcBef>
                  <a:spcPct val="0"/>
                </a:spcBef>
              </a:pPr>
              <a:r>
                <a:rPr lang="en-US" b="true" sz="2158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Grupo 29 - Comisión 2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28700" y="3398888"/>
            <a:ext cx="16230600" cy="4492990"/>
          </a:xfrm>
          <a:custGeom>
            <a:avLst/>
            <a:gdLst/>
            <a:ahLst/>
            <a:cxnLst/>
            <a:rect r="r" b="b" t="t" l="l"/>
            <a:pathLst>
              <a:path h="4492990" w="16230600">
                <a:moveTo>
                  <a:pt x="0" y="0"/>
                </a:moveTo>
                <a:lnTo>
                  <a:pt x="16230600" y="0"/>
                </a:lnTo>
                <a:lnTo>
                  <a:pt x="16230600" y="4492990"/>
                </a:lnTo>
                <a:lnTo>
                  <a:pt x="0" y="44929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176" t="0" r="-1826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2087854">
            <a:off x="672315" y="7101813"/>
            <a:ext cx="1580131" cy="158013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23850" cap="sq">
              <a:gradFill>
                <a:gsLst>
                  <a:gs pos="0">
                    <a:srgbClr val="F5DFF0">
                      <a:alpha val="2950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889223" y="2060232"/>
            <a:ext cx="8747195" cy="107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0"/>
              </a:lnSpc>
              <a:spcBef>
                <a:spcPct val="0"/>
              </a:spcBef>
            </a:pPr>
            <a:r>
              <a:rPr lang="en-US" b="true" sz="7798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¿Como funcionan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508314" y="2060232"/>
            <a:ext cx="5890463" cy="107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0"/>
              </a:lnSpc>
              <a:spcBef>
                <a:spcPct val="0"/>
              </a:spcBef>
            </a:pPr>
            <a:r>
              <a:rPr lang="en-US" b="true" sz="7798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>los grafos?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590120" y="8091903"/>
            <a:ext cx="9107760" cy="519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7"/>
              </a:lnSpc>
            </a:pPr>
            <a:r>
              <a:rPr lang="en-US" sz="3019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Este es un grafo simplificado de nuestro proyecto.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25283" y="-1262009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140649" y="7241479"/>
            <a:ext cx="17956749" cy="16232393"/>
          </a:xfrm>
          <a:custGeom>
            <a:avLst/>
            <a:gdLst/>
            <a:ahLst/>
            <a:cxnLst/>
            <a:rect r="r" b="b" t="t" l="l"/>
            <a:pathLst>
              <a:path h="16232393" w="17956749">
                <a:moveTo>
                  <a:pt x="0" y="0"/>
                </a:moveTo>
                <a:lnTo>
                  <a:pt x="17956749" y="0"/>
                </a:lnTo>
                <a:lnTo>
                  <a:pt x="17956749" y="16232393"/>
                </a:lnTo>
                <a:lnTo>
                  <a:pt x="0" y="162323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178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790082" y="1409055"/>
            <a:ext cx="6692086" cy="107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0"/>
              </a:lnSpc>
              <a:spcBef>
                <a:spcPct val="0"/>
              </a:spcBef>
            </a:pPr>
            <a:r>
              <a:rPr lang="en-US" b="true" sz="7798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Diagrama de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54982" y="1409055"/>
            <a:ext cx="4979810" cy="107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0"/>
              </a:lnSpc>
              <a:spcBef>
                <a:spcPct val="0"/>
              </a:spcBef>
            </a:pPr>
            <a:r>
              <a:rPr lang="en-US" b="true" sz="7798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>Secuencia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508013" y="2763553"/>
            <a:ext cx="11589502" cy="6953701"/>
          </a:xfrm>
          <a:custGeom>
            <a:avLst/>
            <a:gdLst/>
            <a:ahLst/>
            <a:cxnLst/>
            <a:rect r="r" b="b" t="t" l="l"/>
            <a:pathLst>
              <a:path h="6953701" w="11589502">
                <a:moveTo>
                  <a:pt x="0" y="0"/>
                </a:moveTo>
                <a:lnTo>
                  <a:pt x="11589502" y="0"/>
                </a:lnTo>
                <a:lnTo>
                  <a:pt x="11589502" y="6953702"/>
                </a:lnTo>
                <a:lnTo>
                  <a:pt x="0" y="69537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454996" y="3001678"/>
            <a:ext cx="5559592" cy="2637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7"/>
              </a:lnSpc>
            </a:pPr>
            <a:r>
              <a:rPr lang="en-US" sz="3019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Con el diagrama de secuencia podemos ver en mayor detalle como interactúa y funciona el sistema de grafos en nuestro proyecto.</a:t>
            </a:r>
          </a:p>
        </p:txBody>
      </p:sp>
      <p:grpSp>
        <p:nvGrpSpPr>
          <p:cNvPr name="Group 9" id="9"/>
          <p:cNvGrpSpPr/>
          <p:nvPr/>
        </p:nvGrpSpPr>
        <p:grpSpPr>
          <a:xfrm rot="2087854">
            <a:off x="11525112" y="8859597"/>
            <a:ext cx="1116913" cy="111691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23850" cap="sq">
              <a:gradFill>
                <a:gsLst>
                  <a:gs pos="0">
                    <a:srgbClr val="F5DFF0">
                      <a:alpha val="2950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62380" y="626903"/>
            <a:ext cx="15363240" cy="667852"/>
            <a:chOff x="0" y="0"/>
            <a:chExt cx="20484320" cy="89046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199587"/>
              <a:ext cx="734981" cy="690883"/>
            </a:xfrm>
            <a:custGeom>
              <a:avLst/>
              <a:gdLst/>
              <a:ahLst/>
              <a:cxnLst/>
              <a:rect r="r" b="b" t="t" l="l"/>
              <a:pathLst>
                <a:path h="690883" w="734981">
                  <a:moveTo>
                    <a:pt x="0" y="0"/>
                  </a:moveTo>
                  <a:lnTo>
                    <a:pt x="734981" y="0"/>
                  </a:lnTo>
                  <a:lnTo>
                    <a:pt x="734981" y="690882"/>
                  </a:lnTo>
                  <a:lnTo>
                    <a:pt x="0" y="690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4" id="14"/>
            <p:cNvGrpSpPr/>
            <p:nvPr/>
          </p:nvGrpSpPr>
          <p:grpSpPr>
            <a:xfrm rot="0">
              <a:off x="14945754" y="0"/>
              <a:ext cx="890469" cy="890469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85289" y="111986"/>
                    </a:lnTo>
                    <a:lnTo>
                      <a:pt x="609600" y="54447"/>
                    </a:lnTo>
                    <a:lnTo>
                      <a:pt x="621927" y="190873"/>
                    </a:lnTo>
                    <a:lnTo>
                      <a:pt x="758353" y="203200"/>
                    </a:lnTo>
                    <a:lnTo>
                      <a:pt x="700814" y="327511"/>
                    </a:lnTo>
                    <a:lnTo>
                      <a:pt x="812800" y="406400"/>
                    </a:lnTo>
                    <a:lnTo>
                      <a:pt x="700814" y="485289"/>
                    </a:lnTo>
                    <a:lnTo>
                      <a:pt x="758353" y="609600"/>
                    </a:lnTo>
                    <a:lnTo>
                      <a:pt x="621927" y="621927"/>
                    </a:lnTo>
                    <a:lnTo>
                      <a:pt x="609600" y="758353"/>
                    </a:lnTo>
                    <a:lnTo>
                      <a:pt x="485289" y="700814"/>
                    </a:lnTo>
                    <a:lnTo>
                      <a:pt x="406400" y="812800"/>
                    </a:lnTo>
                    <a:lnTo>
                      <a:pt x="327511" y="700814"/>
                    </a:lnTo>
                    <a:lnTo>
                      <a:pt x="203200" y="758353"/>
                    </a:lnTo>
                    <a:lnTo>
                      <a:pt x="190873" y="621927"/>
                    </a:lnTo>
                    <a:lnTo>
                      <a:pt x="54447" y="609600"/>
                    </a:lnTo>
                    <a:lnTo>
                      <a:pt x="111986" y="485289"/>
                    </a:lnTo>
                    <a:lnTo>
                      <a:pt x="0" y="406400"/>
                    </a:lnTo>
                    <a:lnTo>
                      <a:pt x="111986" y="327511"/>
                    </a:lnTo>
                    <a:lnTo>
                      <a:pt x="54447" y="203200"/>
                    </a:lnTo>
                    <a:lnTo>
                      <a:pt x="190873" y="190873"/>
                    </a:lnTo>
                    <a:lnTo>
                      <a:pt x="203200" y="54447"/>
                    </a:lnTo>
                    <a:lnTo>
                      <a:pt x="327511" y="111986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2F1EB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127000" y="155575"/>
                <a:ext cx="558800" cy="530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1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1113494" y="316692"/>
              <a:ext cx="7735832" cy="4852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61"/>
                </a:lnSpc>
                <a:spcBef>
                  <a:spcPct val="0"/>
                </a:spcBef>
              </a:pPr>
              <a:r>
                <a:rPr lang="en-US" sz="2558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María Lara Zobaji, Mauricio Ramirez.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6217223" y="303936"/>
              <a:ext cx="4267096" cy="3982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5"/>
                </a:lnSpc>
                <a:spcBef>
                  <a:spcPct val="0"/>
                </a:spcBef>
              </a:pPr>
              <a:r>
                <a:rPr lang="en-US" b="true" sz="2158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Grupo 29 - Comisión 2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3693" y="3657987"/>
            <a:ext cx="15120613" cy="3320491"/>
            <a:chOff x="0" y="0"/>
            <a:chExt cx="1850635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50635" cy="406400"/>
            </a:xfrm>
            <a:custGeom>
              <a:avLst/>
              <a:gdLst/>
              <a:ahLst/>
              <a:cxnLst/>
              <a:rect r="r" b="b" t="t" l="l"/>
              <a:pathLst>
                <a:path h="406400" w="1850635">
                  <a:moveTo>
                    <a:pt x="1647435" y="0"/>
                  </a:moveTo>
                  <a:cubicBezTo>
                    <a:pt x="1759659" y="0"/>
                    <a:pt x="1850635" y="90976"/>
                    <a:pt x="1850635" y="203200"/>
                  </a:cubicBezTo>
                  <a:cubicBezTo>
                    <a:pt x="1850635" y="315424"/>
                    <a:pt x="1759659" y="406400"/>
                    <a:pt x="164743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14300" cap="sq">
              <a:gradFill>
                <a:gsLst>
                  <a:gs pos="0">
                    <a:srgbClr val="C6269E">
                      <a:alpha val="100000"/>
                    </a:srgbClr>
                  </a:gs>
                  <a:gs pos="100000">
                    <a:srgbClr val="DDBAFF">
                      <a:alpha val="12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850635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525283" y="-1262009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8140649" y="5426888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748890" y="4216429"/>
            <a:ext cx="8790220" cy="2460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81"/>
              </a:lnSpc>
              <a:spcBef>
                <a:spcPct val="0"/>
              </a:spcBef>
            </a:pPr>
            <a:r>
              <a:rPr lang="en-US" b="true" sz="17867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Gracias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31808" y="7241690"/>
            <a:ext cx="11224384" cy="519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7"/>
              </a:lnSpc>
            </a:pPr>
            <a:r>
              <a:rPr lang="en-US" sz="3019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Trabajo de “Cliente Correo” de la materia Estructura de Datos.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462380" y="867228"/>
            <a:ext cx="15363240" cy="667852"/>
            <a:chOff x="0" y="0"/>
            <a:chExt cx="20484320" cy="8904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199587"/>
              <a:ext cx="734981" cy="690883"/>
            </a:xfrm>
            <a:custGeom>
              <a:avLst/>
              <a:gdLst/>
              <a:ahLst/>
              <a:cxnLst/>
              <a:rect r="r" b="b" t="t" l="l"/>
              <a:pathLst>
                <a:path h="690883" w="734981">
                  <a:moveTo>
                    <a:pt x="0" y="0"/>
                  </a:moveTo>
                  <a:lnTo>
                    <a:pt x="734981" y="0"/>
                  </a:lnTo>
                  <a:lnTo>
                    <a:pt x="734981" y="690882"/>
                  </a:lnTo>
                  <a:lnTo>
                    <a:pt x="0" y="690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1" id="11"/>
            <p:cNvGrpSpPr/>
            <p:nvPr/>
          </p:nvGrpSpPr>
          <p:grpSpPr>
            <a:xfrm rot="0">
              <a:off x="14945754" y="0"/>
              <a:ext cx="890469" cy="890469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485289" y="111986"/>
                    </a:lnTo>
                    <a:lnTo>
                      <a:pt x="609600" y="54447"/>
                    </a:lnTo>
                    <a:lnTo>
                      <a:pt x="621927" y="190873"/>
                    </a:lnTo>
                    <a:lnTo>
                      <a:pt x="758353" y="203200"/>
                    </a:lnTo>
                    <a:lnTo>
                      <a:pt x="700814" y="327511"/>
                    </a:lnTo>
                    <a:lnTo>
                      <a:pt x="812800" y="406400"/>
                    </a:lnTo>
                    <a:lnTo>
                      <a:pt x="700814" y="485289"/>
                    </a:lnTo>
                    <a:lnTo>
                      <a:pt x="758353" y="609600"/>
                    </a:lnTo>
                    <a:lnTo>
                      <a:pt x="621927" y="621927"/>
                    </a:lnTo>
                    <a:lnTo>
                      <a:pt x="609600" y="758353"/>
                    </a:lnTo>
                    <a:lnTo>
                      <a:pt x="485289" y="700814"/>
                    </a:lnTo>
                    <a:lnTo>
                      <a:pt x="406400" y="812800"/>
                    </a:lnTo>
                    <a:lnTo>
                      <a:pt x="327511" y="700814"/>
                    </a:lnTo>
                    <a:lnTo>
                      <a:pt x="203200" y="758353"/>
                    </a:lnTo>
                    <a:lnTo>
                      <a:pt x="190873" y="621927"/>
                    </a:lnTo>
                    <a:lnTo>
                      <a:pt x="54447" y="609600"/>
                    </a:lnTo>
                    <a:lnTo>
                      <a:pt x="111986" y="485289"/>
                    </a:lnTo>
                    <a:lnTo>
                      <a:pt x="0" y="406400"/>
                    </a:lnTo>
                    <a:lnTo>
                      <a:pt x="111986" y="327511"/>
                    </a:lnTo>
                    <a:lnTo>
                      <a:pt x="54447" y="203200"/>
                    </a:lnTo>
                    <a:lnTo>
                      <a:pt x="190873" y="190873"/>
                    </a:lnTo>
                    <a:lnTo>
                      <a:pt x="203200" y="54447"/>
                    </a:lnTo>
                    <a:lnTo>
                      <a:pt x="327511" y="111986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2F1EB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127000" y="155575"/>
                <a:ext cx="558800" cy="530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1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1113494" y="316692"/>
              <a:ext cx="7735832" cy="4852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61"/>
                </a:lnSpc>
                <a:spcBef>
                  <a:spcPct val="0"/>
                </a:spcBef>
              </a:pPr>
              <a:r>
                <a:rPr lang="en-US" sz="2558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María Lara Zobaji, Mauricio Ramirez.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6217223" y="303936"/>
              <a:ext cx="4267096" cy="3982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5"/>
                </a:lnSpc>
                <a:spcBef>
                  <a:spcPct val="0"/>
                </a:spcBef>
              </a:pPr>
              <a:r>
                <a:rPr lang="en-US" b="true" sz="2158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Grupo 29 - Comisión 2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DAG1-dHa5-k</dc:identifier>
  <dcterms:modified xsi:type="dcterms:W3CDTF">2011-08-01T06:04:30Z</dcterms:modified>
  <cp:revision>1</cp:revision>
  <dc:title>Purple Black Modern Marketing Plan Presentation</dc:title>
</cp:coreProperties>
</file>